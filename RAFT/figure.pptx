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3" r:id="rId5"/>
    <p:sldId id="259" r:id="rId6"/>
    <p:sldId id="260" r:id="rId7"/>
    <p:sldId id="264" r:id="rId8"/>
    <p:sldId id="261" r:id="rId9"/>
  </p:sldIdLst>
  <p:sldSz cx="143998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" initials="x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B3"/>
    <a:srgbClr val="824DF5"/>
    <a:srgbClr val="EFE5F7"/>
    <a:srgbClr val="F3EBF9"/>
    <a:srgbClr val="E8D8F4"/>
    <a:srgbClr val="2A77EE"/>
    <a:srgbClr val="C6C6C6"/>
    <a:srgbClr val="26B968"/>
    <a:srgbClr val="0F4123"/>
    <a:srgbClr val="003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6" autoAdjust="0"/>
    <p:restoredTop sz="91809" autoAdjust="0"/>
  </p:normalViewPr>
  <p:slideViewPr>
    <p:cSldViewPr snapToGrid="0">
      <p:cViewPr>
        <p:scale>
          <a:sx n="75" d="100"/>
          <a:sy n="75" d="100"/>
        </p:scale>
        <p:origin x="154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79639-FB40-4126-BA64-1FD8B5AD0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0500" y="1143000"/>
            <a:ext cx="6477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0839-5541-4B3F-8606-62A19C812BE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0839-5541-4B3F-8606-62A19C812B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0839-5541-4B3F-8606-62A19C812B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0839-5541-4B3F-8606-62A19C812B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0839-5541-4B3F-8606-62A19C812B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122363"/>
            <a:ext cx="108001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3602038"/>
            <a:ext cx="108001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709739"/>
            <a:ext cx="1242018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82514" y="4589464"/>
            <a:ext cx="1242018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90014" y="1825625"/>
            <a:ext cx="6120091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90108" y="1825625"/>
            <a:ext cx="6120091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365126"/>
            <a:ext cx="12420184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91891" y="1681163"/>
            <a:ext cx="60919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91891" y="2505075"/>
            <a:ext cx="609196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290108" y="1681163"/>
            <a:ext cx="61219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7290108" y="2505075"/>
            <a:ext cx="612196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21966" y="987426"/>
            <a:ext cx="72901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457200"/>
            <a:ext cx="46444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987426"/>
            <a:ext cx="72901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91891" y="2057400"/>
            <a:ext cx="46444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365125"/>
            <a:ext cx="310504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015" y="365125"/>
            <a:ext cx="913513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365126"/>
            <a:ext cx="124201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1825625"/>
            <a:ext cx="124201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EF907-B781-45A1-8AA2-1BB4A8B9CB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6356351"/>
            <a:ext cx="4860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6356351"/>
            <a:ext cx="3240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78037-7C03-4E82-899C-14EF9619E2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2.svg"/><Relationship Id="rId3" Type="http://schemas.openxmlformats.org/officeDocument/2006/relationships/image" Target="../media/image18.png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36.svg"/><Relationship Id="rId22" Type="http://schemas.openxmlformats.org/officeDocument/2006/relationships/image" Target="../media/image35.png"/><Relationship Id="rId21" Type="http://schemas.openxmlformats.org/officeDocument/2006/relationships/image" Target="../media/image34.svg"/><Relationship Id="rId20" Type="http://schemas.openxmlformats.org/officeDocument/2006/relationships/image" Target="../media/image33.png"/><Relationship Id="rId2" Type="http://schemas.openxmlformats.org/officeDocument/2006/relationships/image" Target="../media/image8.svg"/><Relationship Id="rId19" Type="http://schemas.openxmlformats.org/officeDocument/2006/relationships/image" Target="../media/image32.png"/><Relationship Id="rId18" Type="http://schemas.openxmlformats.org/officeDocument/2006/relationships/image" Target="../media/image31.svg"/><Relationship Id="rId17" Type="http://schemas.openxmlformats.org/officeDocument/2006/relationships/image" Target="../media/image30.png"/><Relationship Id="rId16" Type="http://schemas.openxmlformats.org/officeDocument/2006/relationships/image" Target="../media/image29.svg"/><Relationship Id="rId15" Type="http://schemas.openxmlformats.org/officeDocument/2006/relationships/image" Target="../media/image28.png"/><Relationship Id="rId14" Type="http://schemas.openxmlformats.org/officeDocument/2006/relationships/image" Target="../media/image4.sv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svg"/><Relationship Id="rId3" Type="http://schemas.openxmlformats.org/officeDocument/2006/relationships/image" Target="../media/image40.png"/><Relationship Id="rId2" Type="http://schemas.openxmlformats.org/officeDocument/2006/relationships/image" Target="../media/image29.svg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835" y="0"/>
            <a:ext cx="14600565" cy="3607156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268" y="356250"/>
            <a:ext cx="923838" cy="923838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268" y="2058709"/>
            <a:ext cx="840843" cy="840843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268" y="4091745"/>
            <a:ext cx="923838" cy="923838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0702" y="324588"/>
            <a:ext cx="923838" cy="92383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599940" y="1984449"/>
            <a:ext cx="2109744" cy="10005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547629" y="1941655"/>
            <a:ext cx="2225927" cy="10790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44410" y="4043105"/>
            <a:ext cx="2024457" cy="10280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78312" y="4033377"/>
            <a:ext cx="2023200" cy="10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3" name="直接箭头连接符 22"/>
          <p:cNvCxnSpPr>
            <a:stCxn id="11" idx="3"/>
            <a:endCxn id="16" idx="1"/>
          </p:cNvCxnSpPr>
          <p:nvPr/>
        </p:nvCxnSpPr>
        <p:spPr>
          <a:xfrm>
            <a:off x="1258111" y="2479131"/>
            <a:ext cx="341829" cy="5576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圆柱形 31"/>
          <p:cNvSpPr/>
          <p:nvPr/>
        </p:nvSpPr>
        <p:spPr>
          <a:xfrm>
            <a:off x="6390123" y="2062750"/>
            <a:ext cx="1938282" cy="835011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" name="圆柱形 40"/>
          <p:cNvSpPr/>
          <p:nvPr/>
        </p:nvSpPr>
        <p:spPr>
          <a:xfrm>
            <a:off x="4524301" y="1622189"/>
            <a:ext cx="1468800" cy="550921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2" name="圆柱形 41"/>
          <p:cNvSpPr/>
          <p:nvPr/>
        </p:nvSpPr>
        <p:spPr>
          <a:xfrm>
            <a:off x="4524301" y="2206623"/>
            <a:ext cx="1468800" cy="550921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3" name="圆柱形 42"/>
          <p:cNvSpPr/>
          <p:nvPr/>
        </p:nvSpPr>
        <p:spPr>
          <a:xfrm>
            <a:off x="4524301" y="2977695"/>
            <a:ext cx="1468800" cy="550921"/>
          </a:xfrm>
          <a:prstGeom prst="ca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980911" y="2554432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35247" y="2865457"/>
            <a:ext cx="14686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Regulatory</a:t>
            </a:r>
            <a:endParaRPr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Documents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-27744" y="1197953"/>
            <a:ext cx="210185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Knowledge Base</a:t>
            </a:r>
            <a:endParaRPr lang="en-US" altLang="zh-CN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(Test Cases)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-7921" y="4952162"/>
            <a:ext cx="181231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New Document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812406" y="342182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LLMs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77" name="连接符: 肘形 76"/>
          <p:cNvCxnSpPr>
            <a:stCxn id="15" idx="2"/>
            <a:endCxn id="16" idx="0"/>
          </p:cNvCxnSpPr>
          <p:nvPr/>
        </p:nvCxnSpPr>
        <p:spPr>
          <a:xfrm rot="5400000">
            <a:off x="4455706" y="-552467"/>
            <a:ext cx="736023" cy="4337809"/>
          </a:xfrm>
          <a:prstGeom prst="bentConnector3">
            <a:avLst>
              <a:gd name="adj1" fmla="val 3619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9" idx="3"/>
            <a:endCxn id="15" idx="1"/>
          </p:cNvCxnSpPr>
          <p:nvPr/>
        </p:nvCxnSpPr>
        <p:spPr>
          <a:xfrm flipV="1">
            <a:off x="1341106" y="786507"/>
            <a:ext cx="5189596" cy="31662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连接符: 肘形 87"/>
          <p:cNvCxnSpPr>
            <a:stCxn id="15" idx="2"/>
            <a:endCxn id="17" idx="0"/>
          </p:cNvCxnSpPr>
          <p:nvPr/>
        </p:nvCxnSpPr>
        <p:spPr>
          <a:xfrm rot="16200000" flipH="1">
            <a:off x="7979993" y="261054"/>
            <a:ext cx="693229" cy="2667972"/>
          </a:xfrm>
          <a:prstGeom prst="bentConnector3">
            <a:avLst>
              <a:gd name="adj1" fmla="val 3831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平行四边形 93"/>
          <p:cNvSpPr/>
          <p:nvPr/>
        </p:nvSpPr>
        <p:spPr>
          <a:xfrm>
            <a:off x="11080950" y="1929641"/>
            <a:ext cx="1129042" cy="378000"/>
          </a:xfrm>
          <a:prstGeom prst="parallelogram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0" name="连接符: 肘形 109"/>
          <p:cNvCxnSpPr>
            <a:stCxn id="16" idx="3"/>
            <a:endCxn id="41" idx="2"/>
          </p:cNvCxnSpPr>
          <p:nvPr/>
        </p:nvCxnSpPr>
        <p:spPr>
          <a:xfrm flipV="1">
            <a:off x="3709684" y="1897650"/>
            <a:ext cx="814617" cy="587057"/>
          </a:xfrm>
          <a:prstGeom prst="bentConnector3">
            <a:avLst>
              <a:gd name="adj1" fmla="val 13519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/>
          <p:cNvCxnSpPr>
            <a:stCxn id="16" idx="3"/>
            <a:endCxn id="43" idx="2"/>
          </p:cNvCxnSpPr>
          <p:nvPr/>
        </p:nvCxnSpPr>
        <p:spPr>
          <a:xfrm>
            <a:off x="3709684" y="2484707"/>
            <a:ext cx="814617" cy="768449"/>
          </a:xfrm>
          <a:prstGeom prst="bentConnector3">
            <a:avLst>
              <a:gd name="adj1" fmla="val 13519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/>
          <p:cNvCxnSpPr>
            <a:stCxn id="16" idx="3"/>
            <a:endCxn id="42" idx="2"/>
          </p:cNvCxnSpPr>
          <p:nvPr/>
        </p:nvCxnSpPr>
        <p:spPr>
          <a:xfrm flipV="1">
            <a:off x="3709684" y="2482084"/>
            <a:ext cx="814617" cy="2623"/>
          </a:xfrm>
          <a:prstGeom prst="bentConnector3">
            <a:avLst>
              <a:gd name="adj1" fmla="val 13752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3901627" y="1646266"/>
            <a:ext cx="6976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3763851" y="2150796"/>
            <a:ext cx="845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2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9" name="平行四边形 138"/>
          <p:cNvSpPr/>
          <p:nvPr/>
        </p:nvSpPr>
        <p:spPr>
          <a:xfrm>
            <a:off x="11080950" y="2939232"/>
            <a:ext cx="1129993" cy="378000"/>
          </a:xfrm>
          <a:prstGeom prst="parallelogram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0" name="平行四边形 139"/>
          <p:cNvSpPr/>
          <p:nvPr/>
        </p:nvSpPr>
        <p:spPr>
          <a:xfrm>
            <a:off x="11080950" y="2363405"/>
            <a:ext cx="1129993" cy="376567"/>
          </a:xfrm>
          <a:prstGeom prst="parallelogram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1374728" y="1055661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2" name="平行四边形 141"/>
          <p:cNvSpPr/>
          <p:nvPr/>
        </p:nvSpPr>
        <p:spPr>
          <a:xfrm>
            <a:off x="12514088" y="2185721"/>
            <a:ext cx="1924861" cy="731574"/>
          </a:xfrm>
          <a:prstGeom prst="parallelogram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3" name="平行四边形 142"/>
          <p:cNvSpPr/>
          <p:nvPr/>
        </p:nvSpPr>
        <p:spPr>
          <a:xfrm>
            <a:off x="11080950" y="450119"/>
            <a:ext cx="1130944" cy="378000"/>
          </a:xfrm>
          <a:prstGeom prst="parallelogram">
            <a:avLst/>
          </a:prstGeom>
          <a:solidFill>
            <a:srgbClr val="FFD1D1"/>
          </a:solid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4" name="平行四边形 143"/>
          <p:cNvSpPr/>
          <p:nvPr/>
        </p:nvSpPr>
        <p:spPr>
          <a:xfrm>
            <a:off x="11080950" y="883883"/>
            <a:ext cx="1130944" cy="378000"/>
          </a:xfrm>
          <a:prstGeom prst="parallelogram">
            <a:avLst/>
          </a:prstGeom>
          <a:solidFill>
            <a:srgbClr val="FFD1D1"/>
          </a:solid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5" name="平行四边形 144"/>
          <p:cNvSpPr/>
          <p:nvPr/>
        </p:nvSpPr>
        <p:spPr>
          <a:xfrm>
            <a:off x="11080950" y="1455887"/>
            <a:ext cx="1130944" cy="378000"/>
          </a:xfrm>
          <a:prstGeom prst="parallelogram">
            <a:avLst/>
          </a:prstGeom>
          <a:solidFill>
            <a:srgbClr val="FFD1D1"/>
          </a:solid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11380676" y="2535857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7" name="平行四边形 146"/>
          <p:cNvSpPr/>
          <p:nvPr/>
        </p:nvSpPr>
        <p:spPr>
          <a:xfrm>
            <a:off x="12501388" y="707928"/>
            <a:ext cx="1924861" cy="731574"/>
          </a:xfrm>
          <a:prstGeom prst="parallelogram">
            <a:avLst/>
          </a:prstGeom>
          <a:solidFill>
            <a:srgbClr val="FF9393"/>
          </a:solid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9" name="连接符: 肘形 148"/>
          <p:cNvCxnSpPr>
            <a:stCxn id="17" idx="3"/>
            <a:endCxn id="140" idx="5"/>
          </p:cNvCxnSpPr>
          <p:nvPr/>
        </p:nvCxnSpPr>
        <p:spPr>
          <a:xfrm>
            <a:off x="10773556" y="2481175"/>
            <a:ext cx="354465" cy="70514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/>
          <p:cNvCxnSpPr>
            <a:stCxn id="17" idx="3"/>
            <a:endCxn id="94" idx="5"/>
          </p:cNvCxnSpPr>
          <p:nvPr/>
        </p:nvCxnSpPr>
        <p:spPr>
          <a:xfrm flipV="1">
            <a:off x="10773556" y="2118641"/>
            <a:ext cx="354644" cy="362534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连接符: 肘形 162"/>
          <p:cNvCxnSpPr>
            <a:stCxn id="17" idx="3"/>
            <a:endCxn id="139" idx="5"/>
          </p:cNvCxnSpPr>
          <p:nvPr/>
        </p:nvCxnSpPr>
        <p:spPr>
          <a:xfrm>
            <a:off x="10773556" y="2481175"/>
            <a:ext cx="354644" cy="647057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连接符: 肘形 171"/>
          <p:cNvCxnSpPr>
            <a:stCxn id="17" idx="3"/>
            <a:endCxn id="143" idx="5"/>
          </p:cNvCxnSpPr>
          <p:nvPr/>
        </p:nvCxnSpPr>
        <p:spPr>
          <a:xfrm flipV="1">
            <a:off x="10773556" y="639119"/>
            <a:ext cx="354644" cy="1842056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连接符: 肘形 172"/>
          <p:cNvCxnSpPr>
            <a:stCxn id="17" idx="3"/>
            <a:endCxn id="144" idx="5"/>
          </p:cNvCxnSpPr>
          <p:nvPr/>
        </p:nvCxnSpPr>
        <p:spPr>
          <a:xfrm flipV="1">
            <a:off x="10773556" y="1072883"/>
            <a:ext cx="354644" cy="1408292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肘形 173"/>
          <p:cNvCxnSpPr>
            <a:stCxn id="17" idx="3"/>
            <a:endCxn id="145" idx="5"/>
          </p:cNvCxnSpPr>
          <p:nvPr/>
        </p:nvCxnSpPr>
        <p:spPr>
          <a:xfrm flipV="1">
            <a:off x="10773556" y="1644887"/>
            <a:ext cx="354644" cy="836288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32" idx="4"/>
            <a:endCxn id="17" idx="1"/>
          </p:cNvCxnSpPr>
          <p:nvPr/>
        </p:nvCxnSpPr>
        <p:spPr>
          <a:xfrm>
            <a:off x="8328405" y="2480256"/>
            <a:ext cx="219224" cy="91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矩形 184"/>
          <p:cNvSpPr/>
          <p:nvPr/>
        </p:nvSpPr>
        <p:spPr>
          <a:xfrm>
            <a:off x="7045160" y="1069137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RAG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7" name="矩形: 对角圆角 186"/>
          <p:cNvSpPr/>
          <p:nvPr/>
        </p:nvSpPr>
        <p:spPr>
          <a:xfrm>
            <a:off x="4172171" y="4119453"/>
            <a:ext cx="1702837" cy="864291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1" name="图形 19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37461" y="4103311"/>
            <a:ext cx="923838" cy="923838"/>
          </a:xfrm>
          <a:prstGeom prst="rect">
            <a:avLst/>
          </a:prstGeom>
        </p:spPr>
      </p:pic>
      <p:cxnSp>
        <p:nvCxnSpPr>
          <p:cNvPr id="193" name="直接箭头连接符 192"/>
          <p:cNvCxnSpPr>
            <a:stCxn id="21" idx="3"/>
            <a:endCxn id="283" idx="2"/>
          </p:cNvCxnSpPr>
          <p:nvPr/>
        </p:nvCxnSpPr>
        <p:spPr>
          <a:xfrm>
            <a:off x="8301512" y="4548177"/>
            <a:ext cx="442216" cy="9057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矩形 195"/>
          <p:cNvSpPr/>
          <p:nvPr/>
        </p:nvSpPr>
        <p:spPr>
          <a:xfrm>
            <a:off x="9294954" y="4184524"/>
            <a:ext cx="520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Yes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7" name="图形 19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2032" y="5274101"/>
            <a:ext cx="923838" cy="923838"/>
          </a:xfrm>
          <a:prstGeom prst="rect">
            <a:avLst/>
          </a:prstGeom>
        </p:spPr>
      </p:pic>
      <p:sp>
        <p:nvSpPr>
          <p:cNvPr id="198" name="矩形 197"/>
          <p:cNvSpPr/>
          <p:nvPr/>
        </p:nvSpPr>
        <p:spPr>
          <a:xfrm>
            <a:off x="1043082" y="5814997"/>
            <a:ext cx="2534697" cy="73613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1017683" y="5836063"/>
            <a:ext cx="20563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Syntax &amp; Semantic Checker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2" name="直接箭头连接符 201"/>
          <p:cNvCxnSpPr>
            <a:stCxn id="13" idx="3"/>
            <a:endCxn id="20" idx="1"/>
          </p:cNvCxnSpPr>
          <p:nvPr/>
        </p:nvCxnSpPr>
        <p:spPr>
          <a:xfrm>
            <a:off x="1341106" y="4553664"/>
            <a:ext cx="403304" cy="3484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>
            <a:stCxn id="198" idx="0"/>
          </p:cNvCxnSpPr>
          <p:nvPr/>
        </p:nvCxnSpPr>
        <p:spPr>
          <a:xfrm flipV="1">
            <a:off x="2310431" y="5065711"/>
            <a:ext cx="0" cy="749286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连接符: 肘形 211"/>
          <p:cNvCxnSpPr>
            <a:stCxn id="197" idx="1"/>
          </p:cNvCxnSpPr>
          <p:nvPr/>
        </p:nvCxnSpPr>
        <p:spPr>
          <a:xfrm rot="10800000">
            <a:off x="3444820" y="5066422"/>
            <a:ext cx="2047212" cy="669599"/>
          </a:xfrm>
          <a:prstGeom prst="bentConnector3">
            <a:avLst>
              <a:gd name="adj1" fmla="val 99892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>
            <a:stCxn id="20" idx="3"/>
            <a:endCxn id="187" idx="2"/>
          </p:cNvCxnSpPr>
          <p:nvPr/>
        </p:nvCxnSpPr>
        <p:spPr>
          <a:xfrm flipV="1">
            <a:off x="3768867" y="4551599"/>
            <a:ext cx="403304" cy="5549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1" name="图形 2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27079" y="5844077"/>
            <a:ext cx="584775" cy="584775"/>
          </a:xfrm>
          <a:prstGeom prst="rect">
            <a:avLst/>
          </a:prstGeom>
        </p:spPr>
      </p:pic>
      <p:sp>
        <p:nvSpPr>
          <p:cNvPr id="224" name="矩形 223"/>
          <p:cNvSpPr/>
          <p:nvPr/>
        </p:nvSpPr>
        <p:spPr>
          <a:xfrm>
            <a:off x="2268652" y="5255383"/>
            <a:ext cx="824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3424484" y="5324692"/>
            <a:ext cx="21194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Generate &amp; Refine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26" name="直接箭头连接符 225"/>
          <p:cNvCxnSpPr>
            <a:stCxn id="187" idx="0"/>
            <a:endCxn id="21" idx="1"/>
          </p:cNvCxnSpPr>
          <p:nvPr/>
        </p:nvCxnSpPr>
        <p:spPr>
          <a:xfrm flipV="1">
            <a:off x="5875008" y="4548177"/>
            <a:ext cx="403304" cy="3422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9" name="矩形 228"/>
          <p:cNvSpPr/>
          <p:nvPr/>
        </p:nvSpPr>
        <p:spPr>
          <a:xfrm>
            <a:off x="6090700" y="5966755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30" name="连接符: 肘形 229"/>
          <p:cNvCxnSpPr>
            <a:stCxn id="197" idx="3"/>
          </p:cNvCxnSpPr>
          <p:nvPr/>
        </p:nvCxnSpPr>
        <p:spPr>
          <a:xfrm flipV="1">
            <a:off x="6415870" y="5062977"/>
            <a:ext cx="576751" cy="673043"/>
          </a:xfrm>
          <a:prstGeom prst="bentConnector2">
            <a:avLst/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矩形 232"/>
          <p:cNvSpPr/>
          <p:nvPr/>
        </p:nvSpPr>
        <p:spPr>
          <a:xfrm>
            <a:off x="8573457" y="5675090"/>
            <a:ext cx="2059453" cy="79941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8495617" y="5715700"/>
            <a:ext cx="14794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Testability Supplement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37" name="图形 2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33492" y="5764212"/>
            <a:ext cx="604245" cy="604245"/>
          </a:xfrm>
          <a:prstGeom prst="rect">
            <a:avLst/>
          </a:prstGeom>
        </p:spPr>
      </p:pic>
      <p:cxnSp>
        <p:nvCxnSpPr>
          <p:cNvPr id="241" name="连接符: 肘形 240"/>
          <p:cNvCxnSpPr>
            <a:endCxn id="233" idx="1"/>
          </p:cNvCxnSpPr>
          <p:nvPr/>
        </p:nvCxnSpPr>
        <p:spPr>
          <a:xfrm rot="16200000" flipH="1">
            <a:off x="7735996" y="5237336"/>
            <a:ext cx="1003607" cy="671316"/>
          </a:xfrm>
          <a:prstGeom prst="bentConnector2">
            <a:avLst/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7902141" y="5706556"/>
            <a:ext cx="4988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9632724" y="5159260"/>
            <a:ext cx="10340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Testable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69" name="矩形 268"/>
          <p:cNvSpPr/>
          <p:nvPr/>
        </p:nvSpPr>
        <p:spPr>
          <a:xfrm>
            <a:off x="10810957" y="4045040"/>
            <a:ext cx="2023200" cy="10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3" name="矩形: 对角圆角 282"/>
          <p:cNvSpPr/>
          <p:nvPr/>
        </p:nvSpPr>
        <p:spPr>
          <a:xfrm>
            <a:off x="8743728" y="4125088"/>
            <a:ext cx="1702837" cy="864291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DAC1ED"/>
          </a:solidFill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97" name="直接箭头连接符 296"/>
          <p:cNvCxnSpPr>
            <a:stCxn id="283" idx="0"/>
            <a:endCxn id="269" idx="1"/>
          </p:cNvCxnSpPr>
          <p:nvPr/>
        </p:nvCxnSpPr>
        <p:spPr>
          <a:xfrm>
            <a:off x="10446565" y="4557234"/>
            <a:ext cx="364392" cy="2606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直接箭头连接符 302"/>
          <p:cNvCxnSpPr>
            <a:stCxn id="269" idx="3"/>
            <a:endCxn id="191" idx="1"/>
          </p:cNvCxnSpPr>
          <p:nvPr/>
        </p:nvCxnSpPr>
        <p:spPr>
          <a:xfrm>
            <a:off x="12834157" y="4559840"/>
            <a:ext cx="403304" cy="5390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连接符: 肘形 309"/>
          <p:cNvCxnSpPr>
            <a:stCxn id="142" idx="2"/>
            <a:endCxn id="20" idx="0"/>
          </p:cNvCxnSpPr>
          <p:nvPr/>
        </p:nvCxnSpPr>
        <p:spPr>
          <a:xfrm flipH="1">
            <a:off x="2756639" y="2551508"/>
            <a:ext cx="11590863" cy="1491597"/>
          </a:xfrm>
          <a:prstGeom prst="bentConnector4">
            <a:avLst>
              <a:gd name="adj1" fmla="val -126"/>
              <a:gd name="adj2" fmla="val 7987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连接符: 肘形 313"/>
          <p:cNvCxnSpPr>
            <a:stCxn id="147" idx="2"/>
            <a:endCxn id="21" idx="0"/>
          </p:cNvCxnSpPr>
          <p:nvPr/>
        </p:nvCxnSpPr>
        <p:spPr>
          <a:xfrm flipH="1">
            <a:off x="7289912" y="1073715"/>
            <a:ext cx="7044890" cy="2959662"/>
          </a:xfrm>
          <a:prstGeom prst="bentConnector4">
            <a:avLst>
              <a:gd name="adj1" fmla="val -2555"/>
              <a:gd name="adj2" fmla="val 9430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文本框 323"/>
          <p:cNvSpPr txBox="1"/>
          <p:nvPr/>
        </p:nvSpPr>
        <p:spPr>
          <a:xfrm>
            <a:off x="6072947" y="2051394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∩</a:t>
            </a:r>
            <a:endParaRPr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2994021" y="4961282"/>
            <a:ext cx="13768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 Cases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8243798" y="4180230"/>
            <a:ext cx="5581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Yes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1" name="连接符: 肘形 110"/>
          <p:cNvCxnSpPr>
            <a:stCxn id="41" idx="4"/>
            <a:endCxn id="32" idx="2"/>
          </p:cNvCxnSpPr>
          <p:nvPr/>
        </p:nvCxnSpPr>
        <p:spPr>
          <a:xfrm>
            <a:off x="5993101" y="1897650"/>
            <a:ext cx="397022" cy="582606"/>
          </a:xfrm>
          <a:prstGeom prst="bentConnector3">
            <a:avLst>
              <a:gd name="adj1" fmla="val 3400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/>
          <p:cNvCxnSpPr>
            <a:stCxn id="42" idx="4"/>
            <a:endCxn id="32" idx="2"/>
          </p:cNvCxnSpPr>
          <p:nvPr/>
        </p:nvCxnSpPr>
        <p:spPr>
          <a:xfrm flipV="1">
            <a:off x="5993101" y="2480256"/>
            <a:ext cx="397022" cy="1828"/>
          </a:xfrm>
          <a:prstGeom prst="bentConnector3">
            <a:avLst>
              <a:gd name="adj1" fmla="val 3480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/>
          <p:cNvCxnSpPr>
            <a:stCxn id="43" idx="4"/>
            <a:endCxn id="32" idx="2"/>
          </p:cNvCxnSpPr>
          <p:nvPr/>
        </p:nvCxnSpPr>
        <p:spPr>
          <a:xfrm flipV="1">
            <a:off x="5993101" y="2480256"/>
            <a:ext cx="397022" cy="772900"/>
          </a:xfrm>
          <a:prstGeom prst="bentConnector3">
            <a:avLst>
              <a:gd name="adj1" fmla="val 3400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22"/>
          <p:cNvCxnSpPr>
            <a:stCxn id="94" idx="2"/>
            <a:endCxn id="142" idx="5"/>
          </p:cNvCxnSpPr>
          <p:nvPr/>
        </p:nvCxnSpPr>
        <p:spPr>
          <a:xfrm>
            <a:off x="12162742" y="2118641"/>
            <a:ext cx="442793" cy="432867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/>
          <p:cNvCxnSpPr>
            <a:stCxn id="140" idx="2"/>
            <a:endCxn id="142" idx="5"/>
          </p:cNvCxnSpPr>
          <p:nvPr/>
        </p:nvCxnSpPr>
        <p:spPr>
          <a:xfrm flipV="1">
            <a:off x="12163872" y="2551508"/>
            <a:ext cx="441663" cy="181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/>
          <p:cNvCxnSpPr>
            <a:stCxn id="139" idx="2"/>
            <a:endCxn id="142" idx="5"/>
          </p:cNvCxnSpPr>
          <p:nvPr/>
        </p:nvCxnSpPr>
        <p:spPr>
          <a:xfrm flipV="1">
            <a:off x="12163693" y="2551508"/>
            <a:ext cx="441842" cy="576724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/>
          <p:cNvCxnSpPr>
            <a:stCxn id="143" idx="2"/>
            <a:endCxn id="147" idx="5"/>
          </p:cNvCxnSpPr>
          <p:nvPr/>
        </p:nvCxnSpPr>
        <p:spPr>
          <a:xfrm>
            <a:off x="12164644" y="639119"/>
            <a:ext cx="428191" cy="434596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连接符: 肘形 134"/>
          <p:cNvCxnSpPr>
            <a:stCxn id="144" idx="2"/>
            <a:endCxn id="147" idx="5"/>
          </p:cNvCxnSpPr>
          <p:nvPr/>
        </p:nvCxnSpPr>
        <p:spPr>
          <a:xfrm>
            <a:off x="12164644" y="1072883"/>
            <a:ext cx="428191" cy="832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/>
          <p:cNvCxnSpPr>
            <a:stCxn id="145" idx="2"/>
            <a:endCxn id="147" idx="5"/>
          </p:cNvCxnSpPr>
          <p:nvPr/>
        </p:nvCxnSpPr>
        <p:spPr>
          <a:xfrm flipV="1">
            <a:off x="12164644" y="1073715"/>
            <a:ext cx="428191" cy="571172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形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490802" y="5317972"/>
            <a:ext cx="664869" cy="664869"/>
          </a:xfrm>
          <a:prstGeom prst="rect">
            <a:avLst/>
          </a:prstGeom>
        </p:spPr>
      </p:pic>
      <p:cxnSp>
        <p:nvCxnSpPr>
          <p:cNvPr id="99" name="直接箭头连接符 98"/>
          <p:cNvCxnSpPr>
            <a:stCxn id="5" idx="0"/>
            <a:endCxn id="269" idx="2"/>
          </p:cNvCxnSpPr>
          <p:nvPr/>
        </p:nvCxnSpPr>
        <p:spPr>
          <a:xfrm flipH="1" flipV="1">
            <a:off x="11822557" y="5074640"/>
            <a:ext cx="680" cy="243332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12043625" y="5476878"/>
            <a:ext cx="1524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 Strategy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5" name="直接箭头连接符 114"/>
          <p:cNvCxnSpPr/>
          <p:nvPr/>
        </p:nvCxnSpPr>
        <p:spPr>
          <a:xfrm>
            <a:off x="10630681" y="6360421"/>
            <a:ext cx="1417982" cy="0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矩形 117"/>
          <p:cNvSpPr/>
          <p:nvPr/>
        </p:nvSpPr>
        <p:spPr>
          <a:xfrm>
            <a:off x="10657682" y="6003578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Untestable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2060960" y="6045200"/>
            <a:ext cx="359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1" name="矩形 100"/>
          <p:cNvSpPr/>
          <p:nvPr/>
        </p:nvSpPr>
        <p:spPr>
          <a:xfrm flipV="1">
            <a:off x="29835" y="3606296"/>
            <a:ext cx="14600565" cy="3251703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762424" y="1930958"/>
            <a:ext cx="18970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①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Domain Meta-Model Construction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529950" y="1919771"/>
            <a:ext cx="232785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②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Testable Requirement System Definition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294816" y="2187311"/>
            <a:ext cx="215412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Domain-Specific Meta-Model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744410" y="4014384"/>
            <a:ext cx="201175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③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Structured Requirement Generation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299514" y="4169282"/>
            <a:ext cx="1954653" cy="102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④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Testability Determination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919350" y="4177644"/>
            <a:ext cx="179695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⑤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 Data Generation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474661" y="4152939"/>
            <a:ext cx="22010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Testable Requirements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081049" y="4152286"/>
            <a:ext cx="184019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Structured Requirements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8" name="直接箭头连接符 147"/>
          <p:cNvCxnSpPr/>
          <p:nvPr/>
        </p:nvCxnSpPr>
        <p:spPr>
          <a:xfrm flipV="1">
            <a:off x="9582989" y="4983744"/>
            <a:ext cx="0" cy="691347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3756232" y="1554613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1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4444547" y="1711882"/>
            <a:ext cx="16562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Meta-Model 1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429307" y="2301010"/>
            <a:ext cx="16562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Meta-Model 2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427512" y="3065145"/>
            <a:ext cx="165622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Meta-Model n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756232" y="2905378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n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9" name="矩形 158"/>
          <p:cNvSpPr/>
          <p:nvPr/>
        </p:nvSpPr>
        <p:spPr>
          <a:xfrm>
            <a:off x="12481322" y="2177772"/>
            <a:ext cx="197928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Requirement Representation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1" name="矩形 160"/>
          <p:cNvSpPr/>
          <p:nvPr/>
        </p:nvSpPr>
        <p:spPr>
          <a:xfrm>
            <a:off x="12591073" y="711363"/>
            <a:ext cx="17804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Testability Constraint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4" name="矩形 183"/>
          <p:cNvSpPr/>
          <p:nvPr/>
        </p:nvSpPr>
        <p:spPr>
          <a:xfrm>
            <a:off x="11151093" y="1930678"/>
            <a:ext cx="925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Repr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1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11151093" y="2374283"/>
            <a:ext cx="925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Repr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2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1147887" y="2945589"/>
            <a:ext cx="9960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Repr</a:t>
            </a:r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9" name="矩形 188"/>
          <p:cNvSpPr/>
          <p:nvPr/>
        </p:nvSpPr>
        <p:spPr>
          <a:xfrm>
            <a:off x="11145578" y="1460085"/>
            <a:ext cx="10390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Cons. 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11148784" y="893555"/>
            <a:ext cx="9685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Cons. 2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11148784" y="462552"/>
            <a:ext cx="9685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Cons. 1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3" name="矩形: 圆角 202"/>
          <p:cNvSpPr/>
          <p:nvPr/>
        </p:nvSpPr>
        <p:spPr>
          <a:xfrm>
            <a:off x="3637398" y="-375576"/>
            <a:ext cx="6710445" cy="6691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Meta-Model and Requirement System Definition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7" name="矩形: 圆角 226"/>
          <p:cNvSpPr/>
          <p:nvPr/>
        </p:nvSpPr>
        <p:spPr>
          <a:xfrm>
            <a:off x="3637443" y="6548616"/>
            <a:ext cx="6710400" cy="669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Test Case Generation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12333181" y="520871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∪</a:t>
            </a:r>
            <a:endParaRPr lang="zh-CN" alt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12344294" y="2010274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∪</a:t>
            </a:r>
            <a:endParaRPr lang="zh-CN" alt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993212" y="5930363"/>
            <a:ext cx="1167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Feedback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29" name="直接箭头连接符 128"/>
          <p:cNvCxnSpPr/>
          <p:nvPr/>
        </p:nvCxnSpPr>
        <p:spPr>
          <a:xfrm>
            <a:off x="3579151" y="5955953"/>
            <a:ext cx="1941879" cy="6890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 flipV="1">
            <a:off x="29836" y="3608672"/>
            <a:ext cx="16674898" cy="3731928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36" y="0"/>
            <a:ext cx="16674898" cy="3607156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2725" y="1993749"/>
            <a:ext cx="2109744" cy="11700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235816" y="2545965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77" name="连接符: 肘形 76"/>
          <p:cNvCxnSpPr>
            <a:stCxn id="288" idx="2"/>
            <a:endCxn id="16" idx="0"/>
          </p:cNvCxnSpPr>
          <p:nvPr/>
        </p:nvCxnSpPr>
        <p:spPr>
          <a:xfrm rot="5400000">
            <a:off x="4495588" y="-1983781"/>
            <a:ext cx="699539" cy="7255520"/>
          </a:xfrm>
          <a:prstGeom prst="bentConnector3">
            <a:avLst>
              <a:gd name="adj1" fmla="val 37291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178" idx="3"/>
            <a:endCxn id="288" idx="1"/>
          </p:cNvCxnSpPr>
          <p:nvPr/>
        </p:nvCxnSpPr>
        <p:spPr>
          <a:xfrm>
            <a:off x="4730872" y="823179"/>
            <a:ext cx="1677267" cy="5726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连接符: 肘形 87"/>
          <p:cNvCxnSpPr>
            <a:stCxn id="288" idx="2"/>
            <a:endCxn id="17" idx="0"/>
          </p:cNvCxnSpPr>
          <p:nvPr/>
        </p:nvCxnSpPr>
        <p:spPr>
          <a:xfrm rot="5400000">
            <a:off x="7588727" y="1109424"/>
            <a:ext cx="699605" cy="1069176"/>
          </a:xfrm>
          <a:prstGeom prst="bentConnector3">
            <a:avLst>
              <a:gd name="adj1" fmla="val 37293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连接符: 肘形 109"/>
          <p:cNvCxnSpPr>
            <a:stCxn id="16" idx="3"/>
            <a:endCxn id="41" idx="2"/>
          </p:cNvCxnSpPr>
          <p:nvPr/>
        </p:nvCxnSpPr>
        <p:spPr>
          <a:xfrm flipV="1">
            <a:off x="2272469" y="1897650"/>
            <a:ext cx="850598" cy="681132"/>
          </a:xfrm>
          <a:prstGeom prst="bentConnector3">
            <a:avLst>
              <a:gd name="adj1" fmla="val 12673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/>
          <p:cNvCxnSpPr>
            <a:stCxn id="16" idx="3"/>
          </p:cNvCxnSpPr>
          <p:nvPr/>
        </p:nvCxnSpPr>
        <p:spPr>
          <a:xfrm>
            <a:off x="2272469" y="2578782"/>
            <a:ext cx="800923" cy="659767"/>
          </a:xfrm>
          <a:prstGeom prst="bentConnector3">
            <a:avLst>
              <a:gd name="adj1" fmla="val 1353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/>
          <p:cNvCxnSpPr>
            <a:stCxn id="16" idx="3"/>
            <a:endCxn id="42" idx="2"/>
          </p:cNvCxnSpPr>
          <p:nvPr/>
        </p:nvCxnSpPr>
        <p:spPr>
          <a:xfrm flipV="1">
            <a:off x="2272469" y="2485259"/>
            <a:ext cx="850598" cy="93523"/>
          </a:xfrm>
          <a:prstGeom prst="bentConnector3">
            <a:avLst>
              <a:gd name="adj1" fmla="val 12673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3901627" y="1646266"/>
            <a:ext cx="6976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zh-CN" altLang="en-US" sz="1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313335" y="2150580"/>
            <a:ext cx="845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2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15711048" y="2432073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8752827" y="2568774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49" name="连接符: 肘形 148"/>
          <p:cNvCxnSpPr>
            <a:stCxn id="17" idx="3"/>
            <a:endCxn id="140" idx="5"/>
          </p:cNvCxnSpPr>
          <p:nvPr/>
        </p:nvCxnSpPr>
        <p:spPr>
          <a:xfrm flipV="1">
            <a:off x="8458741" y="2578236"/>
            <a:ext cx="306034" cy="579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/>
          <p:cNvCxnSpPr>
            <a:stCxn id="17" idx="3"/>
            <a:endCxn id="94" idx="5"/>
          </p:cNvCxnSpPr>
          <p:nvPr/>
        </p:nvCxnSpPr>
        <p:spPr>
          <a:xfrm flipV="1">
            <a:off x="8458741" y="1999067"/>
            <a:ext cx="306213" cy="579748"/>
          </a:xfrm>
          <a:prstGeom prst="bentConnector3">
            <a:avLst>
              <a:gd name="adj1" fmla="val 30645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连接符: 肘形 162"/>
          <p:cNvCxnSpPr>
            <a:stCxn id="17" idx="3"/>
            <a:endCxn id="139" idx="5"/>
          </p:cNvCxnSpPr>
          <p:nvPr/>
        </p:nvCxnSpPr>
        <p:spPr>
          <a:xfrm>
            <a:off x="8458741" y="2578815"/>
            <a:ext cx="306213" cy="625984"/>
          </a:xfrm>
          <a:prstGeom prst="bentConnector3">
            <a:avLst>
              <a:gd name="adj1" fmla="val 3064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stCxn id="32" idx="4"/>
            <a:endCxn id="17" idx="1"/>
          </p:cNvCxnSpPr>
          <p:nvPr/>
        </p:nvCxnSpPr>
        <p:spPr>
          <a:xfrm flipV="1">
            <a:off x="6115419" y="2578815"/>
            <a:ext cx="233722" cy="15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矩形 184"/>
          <p:cNvSpPr/>
          <p:nvPr/>
        </p:nvSpPr>
        <p:spPr>
          <a:xfrm>
            <a:off x="5205715" y="462805"/>
            <a:ext cx="7280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RAG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97" name="图形 19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234" y="4293710"/>
            <a:ext cx="923838" cy="923838"/>
          </a:xfrm>
          <a:prstGeom prst="rect">
            <a:avLst/>
          </a:prstGeom>
        </p:spPr>
      </p:pic>
      <p:grpSp>
        <p:nvGrpSpPr>
          <p:cNvPr id="394" name="组合 393"/>
          <p:cNvGrpSpPr/>
          <p:nvPr/>
        </p:nvGrpSpPr>
        <p:grpSpPr>
          <a:xfrm>
            <a:off x="14050941" y="4146423"/>
            <a:ext cx="2560096" cy="736131"/>
            <a:chOff x="8347557" y="9817810"/>
            <a:chExt cx="2560096" cy="736131"/>
          </a:xfrm>
        </p:grpSpPr>
        <p:sp>
          <p:nvSpPr>
            <p:cNvPr id="198" name="矩形 197"/>
            <p:cNvSpPr/>
            <p:nvPr/>
          </p:nvSpPr>
          <p:spPr>
            <a:xfrm>
              <a:off x="8372956" y="9817810"/>
              <a:ext cx="2534697" cy="736131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01" name="矩形 200"/>
            <p:cNvSpPr/>
            <p:nvPr/>
          </p:nvSpPr>
          <p:spPr>
            <a:xfrm>
              <a:off x="8347557" y="9838876"/>
              <a:ext cx="205633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Syntax &amp; Semantic Checker</a:t>
              </a:r>
              <a:endPara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pic>
          <p:nvPicPr>
            <p:cNvPr id="221" name="图形 2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3577" y="9899197"/>
              <a:ext cx="584775" cy="584775"/>
            </a:xfrm>
            <a:prstGeom prst="rect">
              <a:avLst/>
            </a:prstGeom>
          </p:spPr>
        </p:pic>
      </p:grpSp>
      <p:sp>
        <p:nvSpPr>
          <p:cNvPr id="224" name="矩形 223"/>
          <p:cNvSpPr/>
          <p:nvPr/>
        </p:nvSpPr>
        <p:spPr>
          <a:xfrm>
            <a:off x="11974605" y="3867398"/>
            <a:ext cx="8247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Verify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842609" y="4396168"/>
            <a:ext cx="110959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Generate</a:t>
            </a:r>
            <a:endParaRPr lang="en-US" altLang="zh-C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Refine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3867524" y="2143621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∩</a:t>
            </a:r>
            <a:endParaRPr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4326411" y="6203554"/>
            <a:ext cx="137685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 Cases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1" name="连接符: 肘形 110"/>
          <p:cNvCxnSpPr>
            <a:stCxn id="41" idx="4"/>
            <a:endCxn id="32" idx="2"/>
          </p:cNvCxnSpPr>
          <p:nvPr/>
        </p:nvCxnSpPr>
        <p:spPr>
          <a:xfrm>
            <a:off x="3836213" y="1897650"/>
            <a:ext cx="340924" cy="681316"/>
          </a:xfrm>
          <a:prstGeom prst="bentConnector3">
            <a:avLst>
              <a:gd name="adj1" fmla="val 27649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/>
          <p:cNvCxnSpPr>
            <a:stCxn id="42" idx="4"/>
            <a:endCxn id="32" idx="2"/>
          </p:cNvCxnSpPr>
          <p:nvPr/>
        </p:nvCxnSpPr>
        <p:spPr>
          <a:xfrm>
            <a:off x="3835319" y="2485259"/>
            <a:ext cx="341818" cy="93707"/>
          </a:xfrm>
          <a:prstGeom prst="bentConnector3">
            <a:avLst>
              <a:gd name="adj1" fmla="val 27707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/>
          <p:cNvCxnSpPr>
            <a:stCxn id="176" idx="4"/>
            <a:endCxn id="32" idx="2"/>
          </p:cNvCxnSpPr>
          <p:nvPr/>
        </p:nvCxnSpPr>
        <p:spPr>
          <a:xfrm flipV="1">
            <a:off x="3835319" y="2578966"/>
            <a:ext cx="341818" cy="661164"/>
          </a:xfrm>
          <a:prstGeom prst="bentConnector3">
            <a:avLst>
              <a:gd name="adj1" fmla="val 27243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22"/>
          <p:cNvCxnSpPr>
            <a:stCxn id="94" idx="2"/>
            <a:endCxn id="142" idx="5"/>
          </p:cNvCxnSpPr>
          <p:nvPr/>
        </p:nvCxnSpPr>
        <p:spPr>
          <a:xfrm>
            <a:off x="9308894" y="1999067"/>
            <a:ext cx="347720" cy="579078"/>
          </a:xfrm>
          <a:prstGeom prst="bentConnector3">
            <a:avLst>
              <a:gd name="adj1" fmla="val 32956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连接符: 肘形 127"/>
          <p:cNvCxnSpPr>
            <a:stCxn id="140" idx="2"/>
            <a:endCxn id="142" idx="5"/>
          </p:cNvCxnSpPr>
          <p:nvPr/>
        </p:nvCxnSpPr>
        <p:spPr>
          <a:xfrm flipV="1">
            <a:off x="9307833" y="2578145"/>
            <a:ext cx="348781" cy="91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连接符: 肘形 129"/>
          <p:cNvCxnSpPr>
            <a:stCxn id="139" idx="2"/>
            <a:endCxn id="142" idx="5"/>
          </p:cNvCxnSpPr>
          <p:nvPr/>
        </p:nvCxnSpPr>
        <p:spPr>
          <a:xfrm flipV="1">
            <a:off x="9307654" y="2578145"/>
            <a:ext cx="348960" cy="626654"/>
          </a:xfrm>
          <a:prstGeom prst="bentConnector3">
            <a:avLst>
              <a:gd name="adj1" fmla="val 34229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连接符: 肘形 132"/>
          <p:cNvCxnSpPr>
            <a:stCxn id="143" idx="2"/>
            <a:endCxn id="147" idx="5"/>
          </p:cNvCxnSpPr>
          <p:nvPr/>
        </p:nvCxnSpPr>
        <p:spPr>
          <a:xfrm>
            <a:off x="14704511" y="2025575"/>
            <a:ext cx="347975" cy="561558"/>
          </a:xfrm>
          <a:prstGeom prst="bentConnector3">
            <a:avLst>
              <a:gd name="adj1" fmla="val 35401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连接符: 肘形 134"/>
          <p:cNvCxnSpPr>
            <a:stCxn id="144" idx="2"/>
            <a:endCxn id="147" idx="5"/>
          </p:cNvCxnSpPr>
          <p:nvPr/>
        </p:nvCxnSpPr>
        <p:spPr>
          <a:xfrm flipV="1">
            <a:off x="14706099" y="2587133"/>
            <a:ext cx="346387" cy="480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/>
          <p:cNvCxnSpPr>
            <a:stCxn id="145" idx="2"/>
            <a:endCxn id="147" idx="5"/>
          </p:cNvCxnSpPr>
          <p:nvPr/>
        </p:nvCxnSpPr>
        <p:spPr>
          <a:xfrm flipV="1">
            <a:off x="14704511" y="2587133"/>
            <a:ext cx="347975" cy="637477"/>
          </a:xfrm>
          <a:prstGeom prst="bentConnector3">
            <a:avLst>
              <a:gd name="adj1" fmla="val 36314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41979" y="2023312"/>
            <a:ext cx="17552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① </a:t>
            </a:r>
            <a:r>
              <a:rPr lang="en-US" altLang="zh-CN" sz="2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Domain Meta-Model Construction</a:t>
            </a:r>
            <a:endParaRPr lang="zh-CN" altLang="en-US" sz="2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297343" y="1993815"/>
            <a:ext cx="2213495" cy="1170000"/>
            <a:chOff x="7819556" y="1808305"/>
            <a:chExt cx="2213495" cy="1170000"/>
          </a:xfrm>
        </p:grpSpPr>
        <p:sp>
          <p:nvSpPr>
            <p:cNvPr id="17" name="矩形 16"/>
            <p:cNvSpPr/>
            <p:nvPr/>
          </p:nvSpPr>
          <p:spPr>
            <a:xfrm>
              <a:off x="7871354" y="1808305"/>
              <a:ext cx="2109600" cy="117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7819556" y="1833460"/>
              <a:ext cx="2213495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②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Requirements Representation Formalization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081830" y="2161460"/>
            <a:ext cx="2154126" cy="887652"/>
            <a:chOff x="5523291" y="2069100"/>
            <a:chExt cx="2154126" cy="887652"/>
          </a:xfrm>
        </p:grpSpPr>
        <p:sp>
          <p:nvSpPr>
            <p:cNvPr id="32" name="圆柱形 31"/>
            <p:cNvSpPr/>
            <p:nvPr/>
          </p:nvSpPr>
          <p:spPr>
            <a:xfrm>
              <a:off x="5618598" y="2069100"/>
              <a:ext cx="1938282" cy="835011"/>
            </a:xfrm>
            <a:prstGeom prst="can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523291" y="2187311"/>
              <a:ext cx="2154126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Domain-Specific Meta-Model</a:t>
              </a:r>
              <a:endParaRPr lang="zh-CN" altLang="en-US" sz="22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8812730" y="3955880"/>
            <a:ext cx="2024457" cy="1107996"/>
            <a:chOff x="1744410" y="4014384"/>
            <a:chExt cx="2024457" cy="1107996"/>
          </a:xfrm>
        </p:grpSpPr>
        <p:sp>
          <p:nvSpPr>
            <p:cNvPr id="20" name="矩形 19"/>
            <p:cNvSpPr/>
            <p:nvPr/>
          </p:nvSpPr>
          <p:spPr>
            <a:xfrm>
              <a:off x="1744410" y="4043105"/>
              <a:ext cx="2024457" cy="10280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744410" y="4014384"/>
              <a:ext cx="2011757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⑤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Formal Requirements Generation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8812730" y="5265610"/>
            <a:ext cx="2023200" cy="1107996"/>
            <a:chOff x="6278312" y="4004276"/>
            <a:chExt cx="2023200" cy="1107996"/>
          </a:xfrm>
        </p:grpSpPr>
        <p:sp>
          <p:nvSpPr>
            <p:cNvPr id="21" name="矩形 20"/>
            <p:cNvSpPr/>
            <p:nvPr/>
          </p:nvSpPr>
          <p:spPr>
            <a:xfrm>
              <a:off x="6278312" y="4042902"/>
              <a:ext cx="2023200" cy="1029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6311264" y="4004276"/>
              <a:ext cx="1954653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⑥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Testability Determination &amp; Refinement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11805706" y="5262728"/>
            <a:ext cx="1820216" cy="1107996"/>
            <a:chOff x="10810957" y="4005842"/>
            <a:chExt cx="2023200" cy="1107996"/>
          </a:xfrm>
        </p:grpSpPr>
        <p:sp>
          <p:nvSpPr>
            <p:cNvPr id="269" name="矩形 268"/>
            <p:cNvSpPr/>
            <p:nvPr/>
          </p:nvSpPr>
          <p:spPr>
            <a:xfrm>
              <a:off x="10810957" y="4045040"/>
              <a:ext cx="2023200" cy="1029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10917853" y="4005842"/>
              <a:ext cx="1796955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⑦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Scenario &amp; Test Case Generation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67" name="矩形 66"/>
          <p:cNvSpPr/>
          <p:nvPr/>
        </p:nvSpPr>
        <p:spPr>
          <a:xfrm>
            <a:off x="2313336" y="1566845"/>
            <a:ext cx="8451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1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23067" y="1622189"/>
            <a:ext cx="713146" cy="550921"/>
            <a:chOff x="3686101" y="1622189"/>
            <a:chExt cx="1468800" cy="550921"/>
          </a:xfrm>
        </p:grpSpPr>
        <p:sp>
          <p:nvSpPr>
            <p:cNvPr id="41" name="圆柱形 40"/>
            <p:cNvSpPr/>
            <p:nvPr/>
          </p:nvSpPr>
          <p:spPr>
            <a:xfrm>
              <a:off x="3686101" y="1622189"/>
              <a:ext cx="1468800" cy="550921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矩形 67"/>
                <p:cNvSpPr/>
                <p:nvPr/>
              </p:nvSpPr>
              <p:spPr>
                <a:xfrm>
                  <a:off x="4123893" y="1711882"/>
                  <a:ext cx="62113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68" name="矩形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3893" y="1711882"/>
                  <a:ext cx="621132" cy="40011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/>
          <p:cNvGrpSpPr/>
          <p:nvPr/>
        </p:nvGrpSpPr>
        <p:grpSpPr>
          <a:xfrm>
            <a:off x="3123067" y="2209798"/>
            <a:ext cx="712252" cy="550921"/>
            <a:chOff x="3686101" y="2209798"/>
            <a:chExt cx="1468800" cy="550921"/>
          </a:xfrm>
        </p:grpSpPr>
        <p:sp>
          <p:nvSpPr>
            <p:cNvPr id="42" name="圆柱形 41"/>
            <p:cNvSpPr/>
            <p:nvPr/>
          </p:nvSpPr>
          <p:spPr>
            <a:xfrm>
              <a:off x="3686101" y="2209798"/>
              <a:ext cx="1468800" cy="550921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矩形 74"/>
                <p:cNvSpPr/>
                <p:nvPr/>
              </p:nvSpPr>
              <p:spPr>
                <a:xfrm>
                  <a:off x="4105671" y="2304185"/>
                  <a:ext cx="62709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75" name="矩形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5671" y="2304185"/>
                  <a:ext cx="627095" cy="400110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矩形 77"/>
          <p:cNvSpPr/>
          <p:nvPr/>
        </p:nvSpPr>
        <p:spPr>
          <a:xfrm>
            <a:off x="2313336" y="2908924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n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9565167" y="2182184"/>
            <a:ext cx="1984731" cy="769441"/>
            <a:chOff x="12528259" y="2155547"/>
            <a:chExt cx="2010188" cy="769441"/>
          </a:xfrm>
        </p:grpSpPr>
        <p:sp>
          <p:nvSpPr>
            <p:cNvPr id="142" name="平行四边形 141"/>
            <p:cNvSpPr/>
            <p:nvPr/>
          </p:nvSpPr>
          <p:spPr>
            <a:xfrm>
              <a:off x="12528259" y="2185721"/>
              <a:ext cx="2010188" cy="731574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9" name="矩形 158"/>
            <p:cNvSpPr/>
            <p:nvPr/>
          </p:nvSpPr>
          <p:spPr>
            <a:xfrm>
              <a:off x="12535993" y="2155547"/>
              <a:ext cx="1979283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Requirements Representation</a:t>
              </a:r>
              <a:endParaRPr lang="zh-CN" altLang="en-US" sz="22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4961039" y="2221346"/>
            <a:ext cx="1608322" cy="772876"/>
            <a:chOff x="16817408" y="2084340"/>
            <a:chExt cx="1924861" cy="772876"/>
          </a:xfrm>
        </p:grpSpPr>
        <p:sp>
          <p:nvSpPr>
            <p:cNvPr id="147" name="平行四边形 146"/>
            <p:cNvSpPr/>
            <p:nvPr/>
          </p:nvSpPr>
          <p:spPr>
            <a:xfrm>
              <a:off x="16817408" y="2084340"/>
              <a:ext cx="1924861" cy="731574"/>
            </a:xfrm>
            <a:prstGeom prst="parallelogram">
              <a:avLst/>
            </a:prstGeom>
            <a:solidFill>
              <a:srgbClr val="CAA5E5"/>
            </a:solidFill>
            <a:ln>
              <a:solidFill>
                <a:srgbClr val="7030A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16881794" y="2087775"/>
              <a:ext cx="1780477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Testability Constraints</a:t>
              </a:r>
              <a:endParaRPr lang="zh-CN" altLang="en-US" sz="22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717704" y="1775697"/>
            <a:ext cx="646529" cy="412370"/>
            <a:chOff x="11253936" y="1895271"/>
            <a:chExt cx="646529" cy="412370"/>
          </a:xfrm>
        </p:grpSpPr>
        <p:sp>
          <p:nvSpPr>
            <p:cNvPr id="94" name="平行四边形 93"/>
            <p:cNvSpPr/>
            <p:nvPr/>
          </p:nvSpPr>
          <p:spPr>
            <a:xfrm>
              <a:off x="11253936" y="1929641"/>
              <a:ext cx="638440" cy="378000"/>
            </a:xfrm>
            <a:prstGeom prst="parallelogram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矩形 183"/>
                <p:cNvSpPr/>
                <p:nvPr/>
              </p:nvSpPr>
              <p:spPr>
                <a:xfrm>
                  <a:off x="11342813" y="1895271"/>
                  <a:ext cx="55765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84" name="矩形 1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2813" y="1895271"/>
                  <a:ext cx="557652" cy="40011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组合 7"/>
          <p:cNvGrpSpPr/>
          <p:nvPr/>
        </p:nvGrpSpPr>
        <p:grpSpPr>
          <a:xfrm>
            <a:off x="8717704" y="2359652"/>
            <a:ext cx="639405" cy="406867"/>
            <a:chOff x="11261925" y="2333105"/>
            <a:chExt cx="639405" cy="406867"/>
          </a:xfrm>
        </p:grpSpPr>
        <p:sp>
          <p:nvSpPr>
            <p:cNvPr id="140" name="平行四边形 139"/>
            <p:cNvSpPr/>
            <p:nvPr/>
          </p:nvSpPr>
          <p:spPr>
            <a:xfrm>
              <a:off x="11261925" y="2363405"/>
              <a:ext cx="637200" cy="376567"/>
            </a:xfrm>
            <a:prstGeom prst="parallelogram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6" name="矩形 185"/>
                <p:cNvSpPr/>
                <p:nvPr/>
              </p:nvSpPr>
              <p:spPr>
                <a:xfrm>
                  <a:off x="11337714" y="2333105"/>
                  <a:ext cx="56361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86" name="矩形 1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7714" y="2333105"/>
                  <a:ext cx="563616" cy="40011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/>
          <p:cNvGrpSpPr/>
          <p:nvPr/>
        </p:nvGrpSpPr>
        <p:grpSpPr>
          <a:xfrm>
            <a:off x="8717704" y="2981747"/>
            <a:ext cx="640606" cy="412052"/>
            <a:chOff x="11261925" y="2905180"/>
            <a:chExt cx="640606" cy="412052"/>
          </a:xfrm>
        </p:grpSpPr>
        <p:sp>
          <p:nvSpPr>
            <p:cNvPr id="139" name="平行四边形 138"/>
            <p:cNvSpPr/>
            <p:nvPr/>
          </p:nvSpPr>
          <p:spPr>
            <a:xfrm>
              <a:off x="11261925" y="2939232"/>
              <a:ext cx="637200" cy="378000"/>
            </a:xfrm>
            <a:prstGeom prst="parallelogram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8" name="矩形 187"/>
                <p:cNvSpPr/>
                <p:nvPr/>
              </p:nvSpPr>
              <p:spPr>
                <a:xfrm>
                  <a:off x="11322885" y="2905180"/>
                  <a:ext cx="57964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ℛ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88" name="矩形 1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2885" y="2905180"/>
                  <a:ext cx="579646" cy="40011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1" name="组合 170"/>
          <p:cNvGrpSpPr/>
          <p:nvPr/>
        </p:nvGrpSpPr>
        <p:grpSpPr>
          <a:xfrm>
            <a:off x="14114561" y="2994879"/>
            <a:ext cx="637200" cy="418731"/>
            <a:chOff x="15356945" y="2791568"/>
            <a:chExt cx="637200" cy="418731"/>
          </a:xfrm>
        </p:grpSpPr>
        <p:sp>
          <p:nvSpPr>
            <p:cNvPr id="145" name="平行四边形 144"/>
            <p:cNvSpPr/>
            <p:nvPr/>
          </p:nvSpPr>
          <p:spPr>
            <a:xfrm>
              <a:off x="15356945" y="2832299"/>
              <a:ext cx="637200" cy="378000"/>
            </a:xfrm>
            <a:prstGeom prst="parallelogram">
              <a:avLst/>
            </a:prstGeom>
            <a:solidFill>
              <a:srgbClr val="E1CCF0"/>
            </a:solidFill>
            <a:ln>
              <a:solidFill>
                <a:srgbClr val="7030A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9" name="矩形 188"/>
                <p:cNvSpPr/>
                <p:nvPr/>
              </p:nvSpPr>
              <p:spPr>
                <a:xfrm>
                  <a:off x="15464632" y="2791568"/>
                  <a:ext cx="49776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89" name="矩形 1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64632" y="2791568"/>
                  <a:ext cx="497765" cy="400110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组合 169"/>
          <p:cNvGrpSpPr/>
          <p:nvPr/>
        </p:nvGrpSpPr>
        <p:grpSpPr>
          <a:xfrm>
            <a:off x="14116149" y="2359651"/>
            <a:ext cx="637200" cy="416962"/>
            <a:chOff x="15356945" y="2222921"/>
            <a:chExt cx="637200" cy="416962"/>
          </a:xfrm>
        </p:grpSpPr>
        <p:sp>
          <p:nvSpPr>
            <p:cNvPr id="144" name="平行四边形 143"/>
            <p:cNvSpPr/>
            <p:nvPr/>
          </p:nvSpPr>
          <p:spPr>
            <a:xfrm>
              <a:off x="15356945" y="2261883"/>
              <a:ext cx="637200" cy="378000"/>
            </a:xfrm>
            <a:prstGeom prst="parallelogram">
              <a:avLst/>
            </a:prstGeom>
            <a:solidFill>
              <a:srgbClr val="E1CCF0"/>
            </a:solidFill>
            <a:ln>
              <a:solidFill>
                <a:srgbClr val="7030A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0" name="矩形 189"/>
                <p:cNvSpPr/>
                <p:nvPr/>
              </p:nvSpPr>
              <p:spPr>
                <a:xfrm>
                  <a:off x="15473100" y="2222921"/>
                  <a:ext cx="48173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90" name="矩形 1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73100" y="2222921"/>
                  <a:ext cx="481735" cy="40011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组合 168"/>
          <p:cNvGrpSpPr/>
          <p:nvPr/>
        </p:nvGrpSpPr>
        <p:grpSpPr>
          <a:xfrm>
            <a:off x="14114561" y="1798982"/>
            <a:ext cx="637200" cy="415593"/>
            <a:chOff x="15356945" y="1788938"/>
            <a:chExt cx="637200" cy="415593"/>
          </a:xfrm>
        </p:grpSpPr>
        <p:sp>
          <p:nvSpPr>
            <p:cNvPr id="143" name="平行四边形 142"/>
            <p:cNvSpPr/>
            <p:nvPr/>
          </p:nvSpPr>
          <p:spPr>
            <a:xfrm>
              <a:off x="15356945" y="1826531"/>
              <a:ext cx="637200" cy="378000"/>
            </a:xfrm>
            <a:prstGeom prst="parallelogram">
              <a:avLst/>
            </a:prstGeom>
            <a:solidFill>
              <a:srgbClr val="E1CCF0"/>
            </a:solidFill>
            <a:ln>
              <a:solidFill>
                <a:srgbClr val="7030A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矩形 191"/>
                <p:cNvSpPr/>
                <p:nvPr/>
              </p:nvSpPr>
              <p:spPr>
                <a:xfrm>
                  <a:off x="15473102" y="1788938"/>
                  <a:ext cx="47577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92" name="矩形 19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73102" y="1788938"/>
                  <a:ext cx="475771" cy="400110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3" name="矩形: 圆角 202"/>
          <p:cNvSpPr/>
          <p:nvPr/>
        </p:nvSpPr>
        <p:spPr>
          <a:xfrm>
            <a:off x="3621295" y="-375285"/>
            <a:ext cx="9491980" cy="66929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Consensus-Based Regulatory Knowledge Explication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7" name="矩形: 圆角 226"/>
          <p:cNvSpPr/>
          <p:nvPr/>
        </p:nvSpPr>
        <p:spPr>
          <a:xfrm>
            <a:off x="3620977" y="7010400"/>
            <a:ext cx="9492615" cy="6692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Knowledge-Guided Requirements Formalization and Test Generation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14770076" y="2126593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∪</a:t>
            </a:r>
            <a:endParaRPr lang="zh-CN" alt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9380016" y="2105892"/>
            <a:ext cx="387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Arial" panose="020B0604020202090204" pitchFamily="34" charset="0"/>
                <a:cs typeface="Arial" panose="020B0604020202090204" pitchFamily="34" charset="0"/>
              </a:rPr>
              <a:t>∪</a:t>
            </a:r>
            <a:endParaRPr lang="zh-CN" altLang="en-US" sz="2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12863560" y="4407270"/>
            <a:ext cx="11673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Feedback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8718" y="480810"/>
            <a:ext cx="28767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Regulatory Documents &amp; Historical Test Cases </a:t>
            </a:r>
            <a:endParaRPr lang="zh-CN" altLang="en-US" sz="2200" dirty="0"/>
          </a:p>
        </p:txBody>
      </p:sp>
      <p:pic>
        <p:nvPicPr>
          <p:cNvPr id="178" name="图形 17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61431" y="438458"/>
            <a:ext cx="769441" cy="769441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>
          <a:xfrm>
            <a:off x="4339474" y="1727035"/>
            <a:ext cx="1654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Knowledge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0" name="矩形 179"/>
          <p:cNvSpPr/>
          <p:nvPr/>
        </p:nvSpPr>
        <p:spPr>
          <a:xfrm>
            <a:off x="9734585" y="1727035"/>
            <a:ext cx="1654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Knowledge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4937890" y="1727035"/>
            <a:ext cx="1654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Knowledge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89" name="图形 8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09255" y="4633288"/>
            <a:ext cx="725543" cy="725543"/>
          </a:xfrm>
          <a:prstGeom prst="rect">
            <a:avLst/>
          </a:prstGeom>
        </p:spPr>
      </p:pic>
      <p:pic>
        <p:nvPicPr>
          <p:cNvPr id="96" name="图形 9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600759" y="5465262"/>
            <a:ext cx="720805" cy="720805"/>
          </a:xfrm>
          <a:prstGeom prst="rect">
            <a:avLst/>
          </a:prstGeom>
        </p:spPr>
      </p:pic>
      <p:grpSp>
        <p:nvGrpSpPr>
          <p:cNvPr id="175" name="组合 174"/>
          <p:cNvGrpSpPr/>
          <p:nvPr/>
        </p:nvGrpSpPr>
        <p:grpSpPr>
          <a:xfrm>
            <a:off x="3123067" y="2964669"/>
            <a:ext cx="712252" cy="550921"/>
            <a:chOff x="3686101" y="2209798"/>
            <a:chExt cx="1468800" cy="550921"/>
          </a:xfrm>
        </p:grpSpPr>
        <p:sp>
          <p:nvSpPr>
            <p:cNvPr id="176" name="圆柱形 175"/>
            <p:cNvSpPr/>
            <p:nvPr/>
          </p:nvSpPr>
          <p:spPr>
            <a:xfrm>
              <a:off x="3686101" y="2209798"/>
              <a:ext cx="1468800" cy="550921"/>
            </a:xfrm>
            <a:prstGeom prst="can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矩形 176"/>
                <p:cNvSpPr/>
                <p:nvPr/>
              </p:nvSpPr>
              <p:spPr>
                <a:xfrm>
                  <a:off x="3756096" y="2304185"/>
                  <a:ext cx="132624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ℳ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177" name="矩形 1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6096" y="2304185"/>
                  <a:ext cx="1326247" cy="400110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4" name="组合 203"/>
          <p:cNvGrpSpPr/>
          <p:nvPr/>
        </p:nvGrpSpPr>
        <p:grpSpPr>
          <a:xfrm>
            <a:off x="11745391" y="2008104"/>
            <a:ext cx="2110495" cy="1170000"/>
            <a:chOff x="7871354" y="1808305"/>
            <a:chExt cx="2110495" cy="1170000"/>
          </a:xfrm>
        </p:grpSpPr>
        <p:sp>
          <p:nvSpPr>
            <p:cNvPr id="206" name="矩形 205"/>
            <p:cNvSpPr/>
            <p:nvPr/>
          </p:nvSpPr>
          <p:spPr>
            <a:xfrm>
              <a:off x="7871354" y="1808305"/>
              <a:ext cx="2109600" cy="117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07" name="矩形 206"/>
            <p:cNvSpPr/>
            <p:nvPr/>
          </p:nvSpPr>
          <p:spPr>
            <a:xfrm>
              <a:off x="7872249" y="1833460"/>
              <a:ext cx="21096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③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Testability Constraints Specification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cxnSp>
        <p:nvCxnSpPr>
          <p:cNvPr id="211" name="直接箭头连接符 210"/>
          <p:cNvCxnSpPr>
            <a:stCxn id="142" idx="2"/>
            <a:endCxn id="207" idx="1"/>
          </p:cNvCxnSpPr>
          <p:nvPr/>
        </p:nvCxnSpPr>
        <p:spPr>
          <a:xfrm>
            <a:off x="11458451" y="2578145"/>
            <a:ext cx="287835" cy="9112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连接符: 肘形 217"/>
          <p:cNvCxnSpPr>
            <a:stCxn id="206" idx="3"/>
            <a:endCxn id="143" idx="5"/>
          </p:cNvCxnSpPr>
          <p:nvPr/>
        </p:nvCxnSpPr>
        <p:spPr>
          <a:xfrm flipV="1">
            <a:off x="13854991" y="2025575"/>
            <a:ext cx="306820" cy="567529"/>
          </a:xfrm>
          <a:prstGeom prst="bentConnector3">
            <a:avLst>
              <a:gd name="adj1" fmla="val 31373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连接符: 肘形 219"/>
          <p:cNvCxnSpPr>
            <a:stCxn id="207" idx="3"/>
            <a:endCxn id="144" idx="5"/>
          </p:cNvCxnSpPr>
          <p:nvPr/>
        </p:nvCxnSpPr>
        <p:spPr>
          <a:xfrm>
            <a:off x="13855886" y="2587257"/>
            <a:ext cx="307513" cy="356"/>
          </a:xfrm>
          <a:prstGeom prst="bentConnector3">
            <a:avLst>
              <a:gd name="adj1" fmla="val 30899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连接符: 肘形 222"/>
          <p:cNvCxnSpPr>
            <a:stCxn id="206" idx="3"/>
            <a:endCxn id="145" idx="5"/>
          </p:cNvCxnSpPr>
          <p:nvPr/>
        </p:nvCxnSpPr>
        <p:spPr>
          <a:xfrm>
            <a:off x="13854991" y="2593104"/>
            <a:ext cx="306820" cy="631506"/>
          </a:xfrm>
          <a:prstGeom prst="bentConnector3">
            <a:avLst>
              <a:gd name="adj1" fmla="val 32408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4" name="组合 303"/>
          <p:cNvGrpSpPr/>
          <p:nvPr/>
        </p:nvGrpSpPr>
        <p:grpSpPr>
          <a:xfrm>
            <a:off x="6408139" y="363599"/>
            <a:ext cx="4129956" cy="930611"/>
            <a:chOff x="6789394" y="363599"/>
            <a:chExt cx="4129956" cy="930611"/>
          </a:xfrm>
        </p:grpSpPr>
        <p:sp>
          <p:nvSpPr>
            <p:cNvPr id="72" name="矩形 71"/>
            <p:cNvSpPr/>
            <p:nvPr/>
          </p:nvSpPr>
          <p:spPr>
            <a:xfrm>
              <a:off x="10033631" y="642650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LLMs</a:t>
              </a:r>
              <a:endPara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grpSp>
          <p:nvGrpSpPr>
            <p:cNvPr id="285" name="组合 284"/>
            <p:cNvGrpSpPr/>
            <p:nvPr/>
          </p:nvGrpSpPr>
          <p:grpSpPr>
            <a:xfrm>
              <a:off x="6789394" y="363599"/>
              <a:ext cx="4129956" cy="930611"/>
              <a:chOff x="6607613" y="354124"/>
              <a:chExt cx="4129956" cy="930611"/>
            </a:xfrm>
          </p:grpSpPr>
          <p:pic>
            <p:nvPicPr>
              <p:cNvPr id="15" name="图形 14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739036" y="355646"/>
                <a:ext cx="923838" cy="923838"/>
              </a:xfrm>
              <a:prstGeom prst="rect">
                <a:avLst/>
              </a:prstGeom>
            </p:spPr>
          </p:pic>
          <p:pic>
            <p:nvPicPr>
              <p:cNvPr id="245" name="图形 244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7564903" y="355646"/>
                <a:ext cx="923838" cy="923838"/>
              </a:xfrm>
              <a:prstGeom prst="rect">
                <a:avLst/>
              </a:prstGeom>
            </p:spPr>
          </p:pic>
          <p:pic>
            <p:nvPicPr>
              <p:cNvPr id="246" name="图形 245"/>
              <p:cNvPicPr>
                <a:picLocks noChangeAspect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915941" y="355646"/>
                <a:ext cx="923838" cy="923838"/>
              </a:xfrm>
              <a:prstGeom prst="rect">
                <a:avLst/>
              </a:prstGeom>
            </p:spPr>
          </p:pic>
          <p:sp>
            <p:nvSpPr>
              <p:cNvPr id="247" name="矩形 246"/>
              <p:cNvSpPr/>
              <p:nvPr/>
            </p:nvSpPr>
            <p:spPr>
              <a:xfrm>
                <a:off x="8439417" y="586733"/>
                <a:ext cx="4924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…</a:t>
                </a:r>
                <a:endParaRPr lang="zh-CN" altLang="en-US" sz="24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88" name="矩形 287"/>
              <p:cNvSpPr/>
              <p:nvPr/>
            </p:nvSpPr>
            <p:spPr>
              <a:xfrm>
                <a:off x="6607613" y="354124"/>
                <a:ext cx="4129956" cy="930611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p:grpSp>
      </p:grpSp>
      <p:cxnSp>
        <p:nvCxnSpPr>
          <p:cNvPr id="295" name="连接符: 肘形 294"/>
          <p:cNvCxnSpPr>
            <a:stCxn id="288" idx="2"/>
            <a:endCxn id="206" idx="0"/>
          </p:cNvCxnSpPr>
          <p:nvPr/>
        </p:nvCxnSpPr>
        <p:spPr>
          <a:xfrm rot="16200000" flipH="1">
            <a:off x="10279707" y="-512380"/>
            <a:ext cx="713894" cy="4327074"/>
          </a:xfrm>
          <a:prstGeom prst="bentConnector3">
            <a:avLst>
              <a:gd name="adj1" fmla="val 36408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2" name="图形 3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146401" y="413198"/>
            <a:ext cx="989394" cy="824495"/>
          </a:xfrm>
          <a:prstGeom prst="rect">
            <a:avLst/>
          </a:prstGeom>
        </p:spPr>
      </p:pic>
      <p:cxnSp>
        <p:nvCxnSpPr>
          <p:cNvPr id="315" name="直接箭头连接符 314"/>
          <p:cNvCxnSpPr>
            <a:stCxn id="312" idx="1"/>
            <a:endCxn id="288" idx="3"/>
          </p:cNvCxnSpPr>
          <p:nvPr/>
        </p:nvCxnSpPr>
        <p:spPr>
          <a:xfrm flipH="1">
            <a:off x="10538095" y="825446"/>
            <a:ext cx="1608306" cy="3459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矩形 317"/>
          <p:cNvSpPr/>
          <p:nvPr/>
        </p:nvSpPr>
        <p:spPr>
          <a:xfrm>
            <a:off x="13043540" y="439334"/>
            <a:ext cx="302473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Adaptive Purification-Aggregation Strategy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31" name="图形 33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4659" y="4693179"/>
            <a:ext cx="925200" cy="925200"/>
          </a:xfrm>
          <a:prstGeom prst="rect">
            <a:avLst/>
          </a:prstGeom>
        </p:spPr>
      </p:pic>
      <p:grpSp>
        <p:nvGrpSpPr>
          <p:cNvPr id="332" name="组合 331"/>
          <p:cNvGrpSpPr/>
          <p:nvPr/>
        </p:nvGrpSpPr>
        <p:grpSpPr>
          <a:xfrm>
            <a:off x="1646030" y="4592156"/>
            <a:ext cx="2238950" cy="1107996"/>
            <a:chOff x="1744410" y="3995134"/>
            <a:chExt cx="2238950" cy="1107996"/>
          </a:xfrm>
        </p:grpSpPr>
        <p:sp>
          <p:nvSpPr>
            <p:cNvPr id="333" name="矩形 332"/>
            <p:cNvSpPr/>
            <p:nvPr/>
          </p:nvSpPr>
          <p:spPr>
            <a:xfrm>
              <a:off x="1744410" y="4043105"/>
              <a:ext cx="2238950" cy="10280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34" name="矩形 333"/>
            <p:cNvSpPr/>
            <p:nvPr/>
          </p:nvSpPr>
          <p:spPr>
            <a:xfrm>
              <a:off x="1744410" y="3995134"/>
              <a:ext cx="223895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④ </a:t>
              </a:r>
              <a:r>
                <a:rPr lang="en-US" altLang="zh-CN" sz="2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Knowledge-Injected Prompt Generation</a:t>
              </a:r>
              <a:endParaRPr lang="zh-CN" altLang="en-US" sz="2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35" name="组合 334"/>
          <p:cNvGrpSpPr/>
          <p:nvPr/>
        </p:nvGrpSpPr>
        <p:grpSpPr>
          <a:xfrm>
            <a:off x="4268029" y="3943298"/>
            <a:ext cx="2602383" cy="1107996"/>
            <a:chOff x="12507256" y="2171422"/>
            <a:chExt cx="2125802" cy="1107996"/>
          </a:xfrm>
        </p:grpSpPr>
        <p:sp>
          <p:nvSpPr>
            <p:cNvPr id="336" name="平行四边形 335"/>
            <p:cNvSpPr/>
            <p:nvPr/>
          </p:nvSpPr>
          <p:spPr>
            <a:xfrm>
              <a:off x="12514088" y="2185721"/>
              <a:ext cx="2118970" cy="1091676"/>
            </a:xfrm>
            <a:prstGeom prst="parallelogram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337" name="矩形 336"/>
            <p:cNvSpPr/>
            <p:nvPr/>
          </p:nvSpPr>
          <p:spPr>
            <a:xfrm>
              <a:off x="12507256" y="2171422"/>
              <a:ext cx="2003713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Formal Requirements Generation Prompt</a:t>
              </a:r>
              <a:endParaRPr lang="zh-CN" altLang="en-US" sz="22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cxnSp>
        <p:nvCxnSpPr>
          <p:cNvPr id="341" name="直接箭头连接符 340"/>
          <p:cNvCxnSpPr>
            <a:stCxn id="331" idx="3"/>
            <a:endCxn id="333" idx="1"/>
          </p:cNvCxnSpPr>
          <p:nvPr/>
        </p:nvCxnSpPr>
        <p:spPr>
          <a:xfrm flipV="1">
            <a:off x="1259859" y="5154170"/>
            <a:ext cx="386171" cy="1609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连接符: 肘形 347"/>
          <p:cNvCxnSpPr>
            <a:stCxn id="334" idx="3"/>
            <a:endCxn id="336" idx="5"/>
          </p:cNvCxnSpPr>
          <p:nvPr/>
        </p:nvCxnSpPr>
        <p:spPr>
          <a:xfrm flipV="1">
            <a:off x="3884980" y="4503435"/>
            <a:ext cx="527879" cy="642719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连接符: 肘形 350"/>
          <p:cNvCxnSpPr>
            <a:stCxn id="334" idx="3"/>
            <a:endCxn id="193" idx="5"/>
          </p:cNvCxnSpPr>
          <p:nvPr/>
        </p:nvCxnSpPr>
        <p:spPr>
          <a:xfrm>
            <a:off x="3884980" y="5146154"/>
            <a:ext cx="528171" cy="618137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矩形 354"/>
          <p:cNvSpPr/>
          <p:nvPr/>
        </p:nvSpPr>
        <p:spPr>
          <a:xfrm>
            <a:off x="7037615" y="5283617"/>
            <a:ext cx="14433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Regulatory Document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56" name="连接符: 肘形 355"/>
          <p:cNvCxnSpPr>
            <a:stCxn id="142" idx="4"/>
            <a:endCxn id="333" idx="0"/>
          </p:cNvCxnSpPr>
          <p:nvPr/>
        </p:nvCxnSpPr>
        <p:spPr>
          <a:xfrm rot="5400000">
            <a:off x="5813422" y="-103985"/>
            <a:ext cx="1696195" cy="7792028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连接符: 肘形 358"/>
          <p:cNvCxnSpPr>
            <a:stCxn id="161" idx="2"/>
            <a:endCxn id="333" idx="0"/>
          </p:cNvCxnSpPr>
          <p:nvPr/>
        </p:nvCxnSpPr>
        <p:spPr>
          <a:xfrm rot="5400000">
            <a:off x="8439140" y="-2679412"/>
            <a:ext cx="1645905" cy="12993173"/>
          </a:xfrm>
          <a:prstGeom prst="bentConnector3">
            <a:avLst>
              <a:gd name="adj1" fmla="val 48457"/>
            </a:avLst>
          </a:prstGeom>
          <a:ln w="317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直接箭头连接符 439"/>
          <p:cNvCxnSpPr>
            <a:stCxn id="197" idx="1"/>
          </p:cNvCxnSpPr>
          <p:nvPr/>
        </p:nvCxnSpPr>
        <p:spPr>
          <a:xfrm flipH="1" flipV="1">
            <a:off x="10842608" y="4741008"/>
            <a:ext cx="1063626" cy="1462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7" name="直接箭头连接符 446"/>
          <p:cNvCxnSpPr>
            <a:endCxn id="197" idx="3"/>
          </p:cNvCxnSpPr>
          <p:nvPr/>
        </p:nvCxnSpPr>
        <p:spPr>
          <a:xfrm flipH="1">
            <a:off x="12830072" y="4753578"/>
            <a:ext cx="1220868" cy="2051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6" name="直接箭头连接符 455"/>
          <p:cNvCxnSpPr/>
          <p:nvPr/>
        </p:nvCxnSpPr>
        <p:spPr>
          <a:xfrm>
            <a:off x="10842608" y="4262611"/>
            <a:ext cx="3232992" cy="20063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3" name="直接箭头连接符 462"/>
          <p:cNvCxnSpPr/>
          <p:nvPr/>
        </p:nvCxnSpPr>
        <p:spPr>
          <a:xfrm>
            <a:off x="6804631" y="4226259"/>
            <a:ext cx="2002677" cy="996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5" name="直接箭头连接符 464"/>
          <p:cNvCxnSpPr/>
          <p:nvPr/>
        </p:nvCxnSpPr>
        <p:spPr>
          <a:xfrm>
            <a:off x="6619236" y="6118221"/>
            <a:ext cx="2190366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7" name="直接箭头连接符 466"/>
          <p:cNvCxnSpPr/>
          <p:nvPr/>
        </p:nvCxnSpPr>
        <p:spPr>
          <a:xfrm>
            <a:off x="8134798" y="4692531"/>
            <a:ext cx="656554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6" name="直接箭头连接符 475"/>
          <p:cNvCxnSpPr/>
          <p:nvPr/>
        </p:nvCxnSpPr>
        <p:spPr>
          <a:xfrm>
            <a:off x="8134798" y="5375018"/>
            <a:ext cx="66115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直接箭头连接符 476"/>
          <p:cNvCxnSpPr>
            <a:stCxn id="21" idx="3"/>
            <a:endCxn id="269" idx="1"/>
          </p:cNvCxnSpPr>
          <p:nvPr/>
        </p:nvCxnSpPr>
        <p:spPr>
          <a:xfrm flipV="1">
            <a:off x="10835930" y="5816726"/>
            <a:ext cx="969776" cy="231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4" name="图形 4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678" y="6473501"/>
            <a:ext cx="459297" cy="459297"/>
          </a:xfrm>
          <a:prstGeom prst="rect">
            <a:avLst/>
          </a:prstGeom>
        </p:spPr>
      </p:pic>
      <p:cxnSp>
        <p:nvCxnSpPr>
          <p:cNvPr id="495" name="直接箭头连接符 494"/>
          <p:cNvCxnSpPr/>
          <p:nvPr/>
        </p:nvCxnSpPr>
        <p:spPr>
          <a:xfrm flipV="1">
            <a:off x="9835105" y="6317634"/>
            <a:ext cx="0" cy="248266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0" name="矩形 499"/>
          <p:cNvSpPr/>
          <p:nvPr/>
        </p:nvSpPr>
        <p:spPr>
          <a:xfrm>
            <a:off x="9665718" y="6490537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01" name="矩形 500"/>
          <p:cNvSpPr/>
          <p:nvPr/>
        </p:nvSpPr>
        <p:spPr>
          <a:xfrm>
            <a:off x="12652592" y="4860874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06" name="矩形 505"/>
          <p:cNvSpPr/>
          <p:nvPr/>
        </p:nvSpPr>
        <p:spPr>
          <a:xfrm>
            <a:off x="14201799" y="2577241"/>
            <a:ext cx="492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endParaRPr lang="zh-CN" alt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511" name="直接箭头连接符 510"/>
          <p:cNvCxnSpPr>
            <a:stCxn id="269" idx="3"/>
            <a:endCxn id="96" idx="1"/>
          </p:cNvCxnSpPr>
          <p:nvPr/>
        </p:nvCxnSpPr>
        <p:spPr>
          <a:xfrm>
            <a:off x="13625922" y="5816726"/>
            <a:ext cx="974837" cy="893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8" name="矩形 527"/>
          <p:cNvSpPr/>
          <p:nvPr/>
        </p:nvSpPr>
        <p:spPr>
          <a:xfrm>
            <a:off x="107310" y="5508939"/>
            <a:ext cx="144339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2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Prompt Template</a:t>
            </a:r>
            <a:endParaRPr lang="zh-CN" altLang="en-US" sz="2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531" name="直接箭头连接符 530"/>
          <p:cNvCxnSpPr>
            <a:endCxn id="334" idx="2"/>
          </p:cNvCxnSpPr>
          <p:nvPr/>
        </p:nvCxnSpPr>
        <p:spPr>
          <a:xfrm flipV="1">
            <a:off x="2765505" y="5700152"/>
            <a:ext cx="0" cy="400344"/>
          </a:xfrm>
          <a:prstGeom prst="straightConnector1">
            <a:avLst/>
          </a:prstGeom>
          <a:ln w="31750">
            <a:headEnd w="lg" len="lg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>
            <a:stCxn id="20" idx="2"/>
            <a:endCxn id="21" idx="0"/>
          </p:cNvCxnSpPr>
          <p:nvPr/>
        </p:nvCxnSpPr>
        <p:spPr>
          <a:xfrm flipH="1">
            <a:off x="9824330" y="5012687"/>
            <a:ext cx="629" cy="291549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1" name="组合 190"/>
          <p:cNvGrpSpPr/>
          <p:nvPr/>
        </p:nvGrpSpPr>
        <p:grpSpPr>
          <a:xfrm>
            <a:off x="4276683" y="5210504"/>
            <a:ext cx="2594019" cy="1107996"/>
            <a:chOff x="12514088" y="2177772"/>
            <a:chExt cx="2118970" cy="1107996"/>
          </a:xfrm>
        </p:grpSpPr>
        <p:sp>
          <p:nvSpPr>
            <p:cNvPr id="193" name="平行四边形 192"/>
            <p:cNvSpPr/>
            <p:nvPr/>
          </p:nvSpPr>
          <p:spPr>
            <a:xfrm>
              <a:off x="12514088" y="2185721"/>
              <a:ext cx="2118970" cy="1091676"/>
            </a:xfrm>
            <a:prstGeom prst="parallelogram">
              <a:avLst/>
            </a:prstGeom>
            <a:solidFill>
              <a:srgbClr val="CAA5E5"/>
            </a:solidFill>
            <a:ln>
              <a:solidFill>
                <a:srgbClr val="7030A0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4" name="矩形 193"/>
            <p:cNvSpPr/>
            <p:nvPr/>
          </p:nvSpPr>
          <p:spPr>
            <a:xfrm>
              <a:off x="12517630" y="2177772"/>
              <a:ext cx="1979283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Testability Determination &amp; Refinement Prompt</a:t>
              </a:r>
              <a:endParaRPr lang="zh-CN" altLang="en-US" sz="22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455" name="组合 454"/>
          <p:cNvGrpSpPr/>
          <p:nvPr/>
        </p:nvGrpSpPr>
        <p:grpSpPr>
          <a:xfrm>
            <a:off x="1492154" y="6113241"/>
            <a:ext cx="2534697" cy="736131"/>
            <a:chOff x="1403851" y="6690592"/>
            <a:chExt cx="2534697" cy="736131"/>
          </a:xfrm>
        </p:grpSpPr>
        <p:sp>
          <p:nvSpPr>
            <p:cNvPr id="205" name="矩形 204"/>
            <p:cNvSpPr/>
            <p:nvPr/>
          </p:nvSpPr>
          <p:spPr>
            <a:xfrm>
              <a:off x="1403851" y="6690592"/>
              <a:ext cx="2534697" cy="736131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1513279" y="6706137"/>
              <a:ext cx="2313752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Prompting Theories and Techniques</a:t>
              </a:r>
              <a:endParaRPr lang="zh-CN" altLang="en-US" sz="20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57" name="矩形 156"/>
          <p:cNvSpPr/>
          <p:nvPr/>
        </p:nvSpPr>
        <p:spPr>
          <a:xfrm>
            <a:off x="1818468" y="3911099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Inject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18080" y="-182141"/>
            <a:ext cx="13915508" cy="1886129"/>
          </a:xfrm>
          <a:prstGeom prst="roundRect">
            <a:avLst>
              <a:gd name="adj" fmla="val 6492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 1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For securities block trading, a "block" shall be at least 10,000 shares or a quantity of stock having a market value of $200,000 or more.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Rule 2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A NYSE Bonds GTD Order is eligible for execution in the Core Bond Trading Session only. A declaration for any other trading session will be cancelled.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942109" y="3962400"/>
            <a:ext cx="1249824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42109" y="5657850"/>
            <a:ext cx="1249824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/>
        </p:nvSpPr>
        <p:spPr>
          <a:xfrm>
            <a:off x="918079" y="1620156"/>
            <a:ext cx="13915521" cy="5460999"/>
          </a:xfrm>
          <a:prstGeom prst="roundRect">
            <a:avLst>
              <a:gd name="adj" fmla="val 3410"/>
            </a:avLst>
          </a:prstGeom>
          <a:solidFill>
            <a:srgbClr val="FFF9E7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30831" y="1631418"/>
            <a:ext cx="1357262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Requirement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1.1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Trade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TradingMethod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Block Trading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TradingVariety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Security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Quantity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10,000 shares or more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OR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Price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$200,000 or more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Pending</a:t>
            </a:r>
            <a:endParaRPr lang="en-US" altLang="zh-CN" sz="2800" dirty="0">
              <a:solidFill>
                <a:srgbClr val="00CC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Success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Filling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Requirement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2.1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TradingMarkey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NYSE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TradingVariety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Bond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OperationPart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GTD Order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Declare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Undeclared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Success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Declared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Requirement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2.2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TradingMarkey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NYSE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TradingVariety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Bond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OperationPart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GTD Order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Action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Declare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Undeclared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Failure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AND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2800" dirty="0" err="1">
                <a:solidFill>
                  <a:srgbClr val="00CC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ResultStatus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Cancelled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953362" y="4198035"/>
            <a:ext cx="5268109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Time = Core Bond Trading Session</a:t>
            </a:r>
            <a:endParaRPr lang="zh-CN" altLang="en-US" sz="2800" dirty="0"/>
          </a:p>
        </p:txBody>
      </p:sp>
      <p:sp>
        <p:nvSpPr>
          <p:cNvPr id="31" name="矩形 30"/>
          <p:cNvSpPr/>
          <p:nvPr/>
        </p:nvSpPr>
        <p:spPr>
          <a:xfrm>
            <a:off x="8953362" y="5907568"/>
            <a:ext cx="5388335" cy="52322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Time != Core Bond Trading Session</a:t>
            </a:r>
            <a:endParaRPr lang="zh-CN" altLang="en-US" sz="2800" dirty="0"/>
          </a:p>
        </p:txBody>
      </p:sp>
      <p:sp>
        <p:nvSpPr>
          <p:cNvPr id="37" name="文本框 36"/>
          <p:cNvSpPr txBox="1"/>
          <p:nvPr/>
        </p:nvSpPr>
        <p:spPr>
          <a:xfrm>
            <a:off x="9165008" y="1584755"/>
            <a:ext cx="4040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Formal Requirements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918067" y="6840411"/>
            <a:ext cx="13915521" cy="2351017"/>
          </a:xfrm>
          <a:prstGeom prst="roundRect">
            <a:avLst>
              <a:gd name="adj" fmla="val 8323"/>
            </a:avLst>
          </a:prstGeom>
          <a:solidFill>
            <a:srgbClr val="EFE5F7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38"/>
              <p:cNvSpPr/>
              <p:nvPr/>
            </p:nvSpPr>
            <p:spPr>
              <a:xfrm>
                <a:off x="918073" y="6839569"/>
                <a:ext cx="12498245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context Rule</a:t>
                </a:r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inv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RuleElementDeterministic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:</a:t>
                </a:r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   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self.Precondition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→</m:t>
                    </m:r>
                  </m:oMath>
                </a14:m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forAll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(e |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e.concrete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 and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e.deterministic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())</a:t>
                </a:r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    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self.ExpectedResult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→</m:t>
                    </m:r>
                  </m:oMath>
                </a14:m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forAll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(e |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e.concrete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 and </a:t>
                </a:r>
                <a:r>
                  <a:rPr lang="en-US" altLang="zh-CN" sz="2800" dirty="0" err="1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e.deterministic</a:t>
                </a:r>
                <a:r>
                  <a:rPr lang="en-US" altLang="zh-CN" sz="28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())</a:t>
                </a:r>
                <a:endParaRPr lang="en-US" altLang="zh-CN" sz="28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9" name="矩形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73" y="6839569"/>
                <a:ext cx="12498245" cy="2246769"/>
              </a:xfrm>
              <a:prstGeom prst="rect">
                <a:avLst/>
              </a:prstGeom>
              <a:blipFill rotWithShape="1">
                <a:blip r:embed="rId1"/>
                <a:stretch>
                  <a:fillRect l="-4" t="-28" b="-3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455636" y="8105991"/>
                <a:ext cx="89963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self.Operation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→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800" dirty="0" err="1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forAll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(e | </a:t>
                </a:r>
                <a:r>
                  <a:rPr lang="en-US" altLang="zh-CN" sz="2800" dirty="0" err="1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e.concrete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 and </a:t>
                </a:r>
                <a:r>
                  <a:rPr lang="en-US" altLang="zh-CN" sz="2800" dirty="0" err="1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e.deterministic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())</a:t>
                </a:r>
                <a:endParaRPr lang="en-US" altLang="zh-CN" sz="2800" dirty="0">
                  <a:solidFill>
                    <a:srgbClr val="FF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636" y="8105991"/>
                <a:ext cx="8996374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" t="-41" r="6" b="-4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连接符: 肘形 5"/>
          <p:cNvCxnSpPr>
            <a:stCxn id="14" idx="3"/>
            <a:endCxn id="25" idx="3"/>
          </p:cNvCxnSpPr>
          <p:nvPr/>
        </p:nvCxnSpPr>
        <p:spPr>
          <a:xfrm flipV="1">
            <a:off x="10452010" y="4459645"/>
            <a:ext cx="3769461" cy="3907956"/>
          </a:xfrm>
          <a:prstGeom prst="bentConnector3">
            <a:avLst>
              <a:gd name="adj1" fmla="val 112435"/>
            </a:avLst>
          </a:prstGeom>
          <a:ln w="31750">
            <a:solidFill>
              <a:srgbClr val="FF0000"/>
            </a:solidFill>
            <a:headEnd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31"/>
          <p:cNvCxnSpPr>
            <a:stCxn id="14" idx="3"/>
            <a:endCxn id="31" idx="3"/>
          </p:cNvCxnSpPr>
          <p:nvPr/>
        </p:nvCxnSpPr>
        <p:spPr>
          <a:xfrm flipV="1">
            <a:off x="10452010" y="6169178"/>
            <a:ext cx="3889687" cy="2198423"/>
          </a:xfrm>
          <a:prstGeom prst="bentConnector3">
            <a:avLst>
              <a:gd name="adj1" fmla="val 108943"/>
            </a:avLst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13098026" y="7905459"/>
            <a:ext cx="1630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Satisfy</a:t>
            </a:r>
            <a:endParaRPr lang="zh-CN" altLang="en-US" sz="24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618897" y="6847559"/>
            <a:ext cx="5132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OCL Testability Constraints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956801" y="442762"/>
            <a:ext cx="5238180" cy="7236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[SYSTEM ROLE]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are a professional regulatory testing expert. Your task is to …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[DEFINITION / CONSTRAINT]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{</a:t>
            </a:r>
            <a:r>
              <a:rPr lang="en-US" altLang="zh-CN" sz="2800" dirty="0" err="1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dynamic_knowledge</a:t>
            </a:r>
            <a:r>
              <a:rPr lang="en-US" altLang="zh-CN" sz="2800" dirty="0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}</a:t>
            </a:r>
            <a:endParaRPr lang="en-US" altLang="zh-CN" sz="2800" dirty="0">
              <a:latin typeface="Georgia" panose="02040502050405090303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[STEP-BY-STEP REASONING]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Follow the 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process: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Task Breakdown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Process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Draft Answer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Self-Critique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Refined Answer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Final Output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[INPUT / OUTPUT FORMAT]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&gt;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&gt;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747" y="62665"/>
            <a:ext cx="37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Regulatory Knowledge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04815" y="5045669"/>
            <a:ext cx="368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Prompting Theories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09551" y="564256"/>
            <a:ext cx="5576434" cy="4406609"/>
            <a:chOff x="-789171" y="482050"/>
            <a:chExt cx="6405873" cy="4406609"/>
          </a:xfrm>
        </p:grpSpPr>
        <p:sp>
          <p:nvSpPr>
            <p:cNvPr id="8" name="对话气泡: 圆角矩形 7"/>
            <p:cNvSpPr/>
            <p:nvPr/>
          </p:nvSpPr>
          <p:spPr>
            <a:xfrm>
              <a:off x="-789171" y="500756"/>
              <a:ext cx="6405873" cy="4387903"/>
            </a:xfrm>
            <a:prstGeom prst="wedgeRoundRectCallout">
              <a:avLst>
                <a:gd name="adj1" fmla="val 55715"/>
                <a:gd name="adj2" fmla="val -9397"/>
                <a:gd name="adj3" fmla="val 16667"/>
              </a:avLst>
            </a:prstGeom>
            <a:solidFill>
              <a:srgbClr val="F3F6FB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-599121" y="482050"/>
              <a:ext cx="6017307" cy="44012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Generate Structured Requirement Based on the Following Definition: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b="1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Symbols</a:t>
              </a:r>
              <a:endParaRPr lang="en-US" altLang="zh-CN" sz="2800" b="1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Domain Symbols: Actor, Time,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Comparison Symbols: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b="1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Syntax</a:t>
              </a:r>
              <a:endParaRPr lang="en-US" altLang="zh-CN" sz="2800" b="1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Rule ::= "IF" &lt;Precondition&gt; 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"AND" &lt;Operation&gt; "THEN" &lt;</a:t>
              </a:r>
              <a:r>
                <a:rPr lang="en-US" altLang="zh-CN" sz="2800" i="1" dirty="0" err="1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ExpectedOutcome</a:t>
              </a:r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&gt;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Precondition ::=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12" name="箭头: 右 11"/>
          <p:cNvSpPr/>
          <p:nvPr/>
        </p:nvSpPr>
        <p:spPr>
          <a:xfrm>
            <a:off x="4574321" y="6511754"/>
            <a:ext cx="1042382" cy="470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4" name="矩形: 圆角 13"/>
          <p:cNvSpPr/>
          <p:nvPr/>
        </p:nvSpPr>
        <p:spPr>
          <a:xfrm>
            <a:off x="7288751" y="62665"/>
            <a:ext cx="2912534" cy="595416"/>
          </a:xfrm>
          <a:prstGeom prst="roundRect">
            <a:avLst/>
          </a:prstGeom>
          <a:solidFill>
            <a:srgbClr val="FFD9D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Prompt Template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37896" y="5135283"/>
            <a:ext cx="1678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①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Prompt Template Design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67461" y="2271474"/>
            <a:ext cx="20222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②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Dynamic Knowledge Injection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86413" y="5491764"/>
            <a:ext cx="3569696" cy="2246769"/>
            <a:chOff x="945144" y="5045209"/>
            <a:chExt cx="3569696" cy="2246769"/>
          </a:xfrm>
        </p:grpSpPr>
        <p:sp>
          <p:nvSpPr>
            <p:cNvPr id="2" name="矩形: 圆角 1"/>
            <p:cNvSpPr/>
            <p:nvPr/>
          </p:nvSpPr>
          <p:spPr>
            <a:xfrm>
              <a:off x="1058612" y="5108709"/>
              <a:ext cx="3333285" cy="2124057"/>
            </a:xfrm>
            <a:prstGeom prst="roundRect">
              <a:avLst>
                <a:gd name="adj" fmla="val 5714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945144" y="5045209"/>
              <a:ext cx="3569696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Prompt Template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Task Decomposition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Chain-of-Thought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Self-Critique &amp; Refine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……</a:t>
              </a:r>
              <a:endParaRPr lang="zh-CN" alt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112501" y="442762"/>
            <a:ext cx="5238180" cy="7236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[SYSTEM ROLE]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are a professional regulatory testing expert. Your task is to …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[DEFINITION / CONSTRAINT]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{</a:t>
            </a:r>
            <a:r>
              <a:rPr lang="en-US" altLang="zh-CN" sz="2800" dirty="0" err="1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dynamic_knowledge</a:t>
            </a:r>
            <a:r>
              <a:rPr lang="en-US" altLang="zh-CN" sz="2800" dirty="0">
                <a:solidFill>
                  <a:srgbClr val="0070C0"/>
                </a:solidFill>
                <a:latin typeface="Georgia" panose="02040502050405090303" pitchFamily="18" charset="0"/>
                <a:cs typeface="Times New Roman" panose="02020503050405090304" pitchFamily="18" charset="0"/>
              </a:rPr>
              <a:t>}</a:t>
            </a:r>
            <a:endParaRPr lang="en-US" altLang="zh-CN" sz="2800" dirty="0">
              <a:latin typeface="Georgia" panose="02040502050405090303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[STEP-BY-STEP REASONING]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Follow the </a:t>
            </a:r>
            <a:r>
              <a:rPr lang="en-US" altLang="zh-CN" sz="2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process: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Task Breakdown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Reasoning Process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Draft Answer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Self-Critique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Refined Answer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Final Output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[INPUT / OUTPUT FORMAT]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&gt;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&gt; 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Output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2052" y="2780465"/>
            <a:ext cx="37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Regulatory Knowledge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7725" y="130140"/>
            <a:ext cx="363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Prompting Techniques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49" y="3280055"/>
            <a:ext cx="5238181" cy="4408610"/>
            <a:chOff x="-789171" y="480049"/>
            <a:chExt cx="6405873" cy="4408610"/>
          </a:xfrm>
        </p:grpSpPr>
        <p:sp>
          <p:nvSpPr>
            <p:cNvPr id="8" name="对话气泡: 圆角矩形 7"/>
            <p:cNvSpPr/>
            <p:nvPr/>
          </p:nvSpPr>
          <p:spPr>
            <a:xfrm>
              <a:off x="-789171" y="500756"/>
              <a:ext cx="6405873" cy="4387903"/>
            </a:xfrm>
            <a:prstGeom prst="wedgeRoundRectCallout">
              <a:avLst>
                <a:gd name="adj1" fmla="val 50139"/>
                <a:gd name="adj2" fmla="val -21264"/>
                <a:gd name="adj3" fmla="val 16667"/>
              </a:avLst>
            </a:prstGeom>
            <a:solidFill>
              <a:srgbClr val="F3F6FB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zh-CN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-546163" y="480049"/>
              <a:ext cx="6017307" cy="44012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Generate Formal Requirements Based on the Definition: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b="1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Symbols</a:t>
              </a:r>
              <a:endParaRPr lang="en-US" altLang="zh-CN" sz="2800" b="1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Domain Symbols: Actor, Time,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Comparison Symbols: &lt;, =,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b="1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Syntax</a:t>
              </a:r>
              <a:endParaRPr lang="en-US" altLang="zh-CN" sz="2800" b="1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Rule ::= "IF" &lt;Precondition&gt; 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"AND" &lt;Operation&gt; "THEN" &lt;</a:t>
              </a:r>
              <a:r>
                <a:rPr lang="en-US" altLang="zh-CN" sz="2800" i="1" dirty="0" err="1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ExpectedOutcome</a:t>
              </a:r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&gt;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  <a:p>
              <a:r>
                <a:rPr lang="en-US" altLang="zh-CN" sz="2800" i="1" dirty="0">
                  <a:solidFill>
                    <a:srgbClr val="0070C0"/>
                  </a:solidFill>
                  <a:latin typeface="Times New Roman" panose="02020503050405090304" pitchFamily="18" charset="0"/>
                  <a:ea typeface="黑体" panose="02010609060101010101" pitchFamily="49" charset="-122"/>
                  <a:cs typeface="Times New Roman" panose="02020503050405090304" pitchFamily="18" charset="0"/>
                </a:rPr>
                <a:t>Precondition ::= …</a:t>
              </a:r>
              <a:endParaRPr lang="en-US" altLang="zh-CN" sz="2800" i="1" dirty="0">
                <a:solidFill>
                  <a:srgbClr val="0070C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12" name="箭头: 右 11"/>
          <p:cNvSpPr/>
          <p:nvPr/>
        </p:nvSpPr>
        <p:spPr>
          <a:xfrm>
            <a:off x="5668085" y="1888012"/>
            <a:ext cx="1042382" cy="470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4" name="矩形: 圆角 13"/>
          <p:cNvSpPr/>
          <p:nvPr/>
        </p:nvSpPr>
        <p:spPr>
          <a:xfrm>
            <a:off x="8444451" y="62665"/>
            <a:ext cx="2912534" cy="595416"/>
          </a:xfrm>
          <a:prstGeom prst="roundRect">
            <a:avLst/>
          </a:prstGeom>
          <a:solidFill>
            <a:srgbClr val="FFD9D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Prompt Template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350109" y="496698"/>
            <a:ext cx="1678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①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Prompt Template Design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00158" y="4229409"/>
            <a:ext cx="19782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②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Dynamic Knowledge Injection</a:t>
            </a:r>
            <a:endParaRPr lang="zh-CN" altLang="en-US" sz="28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49" y="591914"/>
            <a:ext cx="5238181" cy="2246769"/>
            <a:chOff x="56678" y="5047352"/>
            <a:chExt cx="5238181" cy="2246769"/>
          </a:xfrm>
        </p:grpSpPr>
        <p:sp>
          <p:nvSpPr>
            <p:cNvPr id="2" name="矩形: 圆角 1"/>
            <p:cNvSpPr/>
            <p:nvPr/>
          </p:nvSpPr>
          <p:spPr>
            <a:xfrm>
              <a:off x="56678" y="5108709"/>
              <a:ext cx="5238181" cy="2124057"/>
            </a:xfrm>
            <a:prstGeom prst="roundRect">
              <a:avLst>
                <a:gd name="adj" fmla="val 3381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93245" y="5047352"/>
              <a:ext cx="4295784" cy="2246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Prompt Template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Task Decomposition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Chain-of-Thought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Self-Critique &amp; Refinement</a:t>
              </a:r>
              <a:endParaRPr lang="en-US" altLang="zh-CN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 algn="ctr"/>
              <a:r>
                <a:rPr lang="en-US" altLang="zh-CN" sz="2800" dirty="0">
                  <a:solidFill>
                    <a:schemeClr val="accent6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……</a:t>
              </a:r>
              <a:endParaRPr lang="zh-CN" altLang="en-US" sz="2800" dirty="0">
                <a:solidFill>
                  <a:schemeClr val="accent6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15" name="箭头: 右 14"/>
          <p:cNvSpPr/>
          <p:nvPr/>
        </p:nvSpPr>
        <p:spPr>
          <a:xfrm>
            <a:off x="5668085" y="5612824"/>
            <a:ext cx="1042382" cy="470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51246" y="2910654"/>
            <a:ext cx="725543" cy="72554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501999" y="2072409"/>
            <a:ext cx="2851150" cy="654056"/>
          </a:xfrm>
          <a:prstGeom prst="rect">
            <a:avLst/>
          </a:prstGeom>
          <a:solidFill>
            <a:srgbClr val="D5EBFF"/>
          </a:solidFill>
          <a:ln w="28575">
            <a:solidFill>
              <a:srgbClr val="2A77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Models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(CFG, SG, ODD, FR, …)</a:t>
            </a:r>
            <a:endParaRPr lang="zh-CN" altLang="en-US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01999" y="2946805"/>
            <a:ext cx="2851150" cy="654056"/>
          </a:xfrm>
          <a:prstGeom prst="rect">
            <a:avLst/>
          </a:prstGeom>
          <a:solidFill>
            <a:srgbClr val="E9FAF0"/>
          </a:solidFill>
          <a:ln w="28575">
            <a:solidFill>
              <a:srgbClr val="26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Reasoning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CoT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RAG, Agent, …)</a:t>
            </a:r>
            <a:endParaRPr lang="zh-CN" altLang="en-US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03307" y="3831361"/>
            <a:ext cx="2851149" cy="651045"/>
          </a:xfrm>
          <a:prstGeom prst="rect">
            <a:avLst/>
          </a:prstGeom>
          <a:solidFill>
            <a:srgbClr val="EBE6FE"/>
          </a:solidFill>
          <a:ln w="28575">
            <a:solidFill>
              <a:srgbClr val="824D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Models</a:t>
            </a:r>
            <a:endParaRPr lang="en-US" altLang="zh-CN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(CFG, SG, ODD, FR, …)</a:t>
            </a:r>
            <a:endParaRPr lang="zh-CN" altLang="en-US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51924" y="3628780"/>
            <a:ext cx="12696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Test Cases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4295" y="2913837"/>
            <a:ext cx="720805" cy="72080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830043" y="3620314"/>
            <a:ext cx="13516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Documents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3" name="直接箭头连接符 22"/>
          <p:cNvCxnSpPr>
            <a:stCxn id="121" idx="1"/>
            <a:endCxn id="56" idx="2"/>
          </p:cNvCxnSpPr>
          <p:nvPr/>
        </p:nvCxnSpPr>
        <p:spPr>
          <a:xfrm flipV="1">
            <a:off x="4846404" y="4158567"/>
            <a:ext cx="5029" cy="494686"/>
          </a:xfrm>
          <a:prstGeom prst="straightConnector1">
            <a:avLst/>
          </a:prstGeom>
          <a:ln w="28575">
            <a:solidFill>
              <a:srgbClr val="824DF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488192" y="2873315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488192" y="3758457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904808" y="1998889"/>
            <a:ext cx="16241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Human / NLP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60" name="连接符: 肘形 59"/>
          <p:cNvCxnSpPr>
            <a:stCxn id="3" idx="3"/>
            <a:endCxn id="6" idx="1"/>
          </p:cNvCxnSpPr>
          <p:nvPr/>
        </p:nvCxnSpPr>
        <p:spPr>
          <a:xfrm flipV="1">
            <a:off x="3876789" y="2399437"/>
            <a:ext cx="1625210" cy="873989"/>
          </a:xfrm>
          <a:prstGeom prst="bentConnector3">
            <a:avLst>
              <a:gd name="adj1" fmla="val 20373"/>
            </a:avLst>
          </a:prstGeom>
          <a:ln w="28575">
            <a:solidFill>
              <a:srgbClr val="2A77E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/>
          <p:cNvCxnSpPr>
            <a:stCxn id="3" idx="3"/>
            <a:endCxn id="8" idx="1"/>
          </p:cNvCxnSpPr>
          <p:nvPr/>
        </p:nvCxnSpPr>
        <p:spPr>
          <a:xfrm>
            <a:off x="3876789" y="3273426"/>
            <a:ext cx="1626518" cy="883458"/>
          </a:xfrm>
          <a:prstGeom prst="bentConnector3">
            <a:avLst>
              <a:gd name="adj1" fmla="val 20397"/>
            </a:avLst>
          </a:prstGeom>
          <a:ln w="28575">
            <a:solidFill>
              <a:srgbClr val="824DF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/>
          <p:cNvCxnSpPr>
            <a:stCxn id="6" idx="3"/>
            <a:endCxn id="10" idx="1"/>
          </p:cNvCxnSpPr>
          <p:nvPr/>
        </p:nvCxnSpPr>
        <p:spPr>
          <a:xfrm>
            <a:off x="8353149" y="2399437"/>
            <a:ext cx="1701146" cy="874803"/>
          </a:xfrm>
          <a:prstGeom prst="bentConnector3">
            <a:avLst>
              <a:gd name="adj1" fmla="val 78245"/>
            </a:avLst>
          </a:prstGeom>
          <a:ln w="28575">
            <a:solidFill>
              <a:srgbClr val="2A77E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连接符: 肘形 72"/>
          <p:cNvCxnSpPr>
            <a:stCxn id="8" idx="3"/>
            <a:endCxn id="10" idx="1"/>
          </p:cNvCxnSpPr>
          <p:nvPr/>
        </p:nvCxnSpPr>
        <p:spPr>
          <a:xfrm flipV="1">
            <a:off x="8354456" y="3274240"/>
            <a:ext cx="1699839" cy="882644"/>
          </a:xfrm>
          <a:prstGeom prst="bentConnector3">
            <a:avLst>
              <a:gd name="adj1" fmla="val 78142"/>
            </a:avLst>
          </a:prstGeom>
          <a:ln w="28575">
            <a:solidFill>
              <a:srgbClr val="824DF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8658574" y="2864510"/>
            <a:ext cx="7264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8737120" y="1996227"/>
            <a:ext cx="569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Alg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373913" y="3758457"/>
            <a:ext cx="12958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LLM / </a:t>
            </a:r>
            <a:r>
              <a:rPr lang="en-US" altLang="zh-CN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Alg</a:t>
            </a:r>
            <a:endParaRPr lang="zh-CN" alt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03" name="连接符: 肘形 102"/>
          <p:cNvCxnSpPr>
            <a:stCxn id="7" idx="3"/>
            <a:endCxn id="10" idx="1"/>
          </p:cNvCxnSpPr>
          <p:nvPr/>
        </p:nvCxnSpPr>
        <p:spPr>
          <a:xfrm>
            <a:off x="8353149" y="3273833"/>
            <a:ext cx="1701146" cy="407"/>
          </a:xfrm>
          <a:prstGeom prst="bentConnector3">
            <a:avLst>
              <a:gd name="adj1" fmla="val 78244"/>
            </a:avLst>
          </a:prstGeom>
          <a:ln w="28575">
            <a:solidFill>
              <a:srgbClr val="26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05"/>
          <p:cNvCxnSpPr>
            <a:stCxn id="3" idx="3"/>
            <a:endCxn id="7" idx="1"/>
          </p:cNvCxnSpPr>
          <p:nvPr/>
        </p:nvCxnSpPr>
        <p:spPr>
          <a:xfrm>
            <a:off x="3876789" y="3273426"/>
            <a:ext cx="1625210" cy="407"/>
          </a:xfrm>
          <a:prstGeom prst="bentConnector3">
            <a:avLst>
              <a:gd name="adj1" fmla="val 20646"/>
            </a:avLst>
          </a:prstGeom>
          <a:ln w="28575">
            <a:solidFill>
              <a:srgbClr val="26B96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/>
          <p:cNvGrpSpPr/>
          <p:nvPr/>
        </p:nvGrpSpPr>
        <p:grpSpPr>
          <a:xfrm>
            <a:off x="9196951" y="4268490"/>
            <a:ext cx="1714687" cy="909869"/>
            <a:chOff x="8714858" y="4280916"/>
            <a:chExt cx="1714687" cy="909869"/>
          </a:xfrm>
        </p:grpSpPr>
        <p:sp>
          <p:nvSpPr>
            <p:cNvPr id="113" name="矩形 112"/>
            <p:cNvSpPr/>
            <p:nvPr/>
          </p:nvSpPr>
          <p:spPr>
            <a:xfrm>
              <a:off x="8714858" y="4298814"/>
              <a:ext cx="1699839" cy="88455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ts val="23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</a:t>
              </a:r>
              <a:endParaRPr lang="en-US" altLang="zh-CN" sz="16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</a:t>
              </a:r>
              <a:endParaRPr lang="en-US" altLang="zh-CN" sz="16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</a:t>
              </a:r>
              <a:endParaRPr lang="zh-CN" altLang="en-US" sz="16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8840117" y="4370219"/>
              <a:ext cx="301615" cy="159949"/>
            </a:xfrm>
            <a:prstGeom prst="rect">
              <a:avLst/>
            </a:prstGeom>
            <a:solidFill>
              <a:srgbClr val="D5EBFF"/>
            </a:solidFill>
            <a:ln w="28575">
              <a:solidFill>
                <a:srgbClr val="2A7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8840117" y="4655877"/>
              <a:ext cx="301615" cy="159949"/>
            </a:xfrm>
            <a:prstGeom prst="rect">
              <a:avLst/>
            </a:prstGeom>
            <a:solidFill>
              <a:srgbClr val="E9FAF0"/>
            </a:solidFill>
            <a:ln w="28575">
              <a:solidFill>
                <a:srgbClr val="26B9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8840116" y="4938745"/>
              <a:ext cx="301615" cy="165527"/>
            </a:xfrm>
            <a:prstGeom prst="rect">
              <a:avLst/>
            </a:prstGeom>
            <a:solidFill>
              <a:srgbClr val="EBE6FE"/>
            </a:solidFill>
            <a:ln w="28575">
              <a:solidFill>
                <a:srgbClr val="824D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9137204" y="4280916"/>
              <a:ext cx="12923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Model-Based</a:t>
              </a:r>
              <a:endParaRPr lang="zh-CN" altLang="en-US" sz="1600" dirty="0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9137204" y="4566574"/>
              <a:ext cx="11881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LLM-Based</a:t>
              </a:r>
              <a:endParaRPr lang="zh-CN" altLang="en-US" sz="1600" dirty="0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9137204" y="4852231"/>
              <a:ext cx="7665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Hybrid</a:t>
              </a:r>
              <a:endParaRPr lang="zh-CN" altLang="en-US" sz="1600" dirty="0"/>
            </a:p>
          </p:txBody>
        </p:sp>
      </p:grpSp>
      <p:sp>
        <p:nvSpPr>
          <p:cNvPr id="121" name="圆柱形 120"/>
          <p:cNvSpPr/>
          <p:nvPr/>
        </p:nvSpPr>
        <p:spPr>
          <a:xfrm>
            <a:off x="4158692" y="4653253"/>
            <a:ext cx="1375424" cy="478898"/>
          </a:xfrm>
          <a:prstGeom prst="can">
            <a:avLst/>
          </a:prstGeom>
          <a:noFill/>
          <a:ln w="28575">
            <a:solidFill>
              <a:srgbClr val="824D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Knowledge</a:t>
            </a:r>
            <a:endParaRPr lang="zh-CN" altLang="en-US" sz="200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012341" y="4632905"/>
            <a:ext cx="1303059" cy="525107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Human</a:t>
            </a:r>
            <a:endParaRPr lang="zh-CN" altLang="en-US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9" name="直接箭头连接符 38"/>
          <p:cNvCxnSpPr>
            <a:stCxn id="14" idx="2"/>
            <a:endCxn id="121" idx="4"/>
          </p:cNvCxnSpPr>
          <p:nvPr/>
        </p:nvCxnSpPr>
        <p:spPr>
          <a:xfrm flipH="1" flipV="1">
            <a:off x="5534116" y="4892702"/>
            <a:ext cx="478225" cy="27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4427</Words>
  <Application>WPS 演示</Application>
  <PresentationFormat>自定义</PresentationFormat>
  <Paragraphs>357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Cambria Math</vt:lpstr>
      <vt:lpstr>Kingsoft Math</vt:lpstr>
      <vt:lpstr>Georgia</vt:lpstr>
      <vt:lpstr>黑体</vt:lpstr>
      <vt:lpstr>汉仪中黑KW</vt:lpstr>
      <vt:lpstr>等线</vt:lpstr>
      <vt:lpstr>汉仪中等线KW</vt:lpstr>
      <vt:lpstr>MS PGothic</vt:lpstr>
      <vt:lpstr>苹方-简</vt:lpstr>
      <vt:lpstr>微软雅黑</vt:lpstr>
      <vt:lpstr>汉仪旗黑</vt:lpstr>
      <vt:lpstr>宋体</vt:lpstr>
      <vt:lpstr>Arial Unicode MS</vt:lpstr>
      <vt:lpstr>等线 Light</vt:lpstr>
      <vt:lpstr>Calibri Light</vt:lpstr>
      <vt:lpstr>Helvetica Neue</vt:lpstr>
      <vt:lpstr>Calibri</vt:lpstr>
      <vt:lpstr>汉仪书宋二KW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</dc:creator>
  <cp:lastModifiedBy>落雨</cp:lastModifiedBy>
  <cp:revision>159</cp:revision>
  <dcterms:created xsi:type="dcterms:W3CDTF">2026-06-30T06:46:04Z</dcterms:created>
  <dcterms:modified xsi:type="dcterms:W3CDTF">2026-06-30T06:46:04Z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2052-12.1.25849.25849</vt:lpwstr>
  </property>
  <property fmtid="{D5CDD505-2E9C-101B-9397-08002B2CF9AE}" pid="3" name="ICV">
    <vt:lpwstr>971766C2B7BE24B62C66436A709E64A7_42</vt:lpwstr>
  </property>
</Properties>
</file>